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2.xml" ContentType="application/vnd.openxmlformats-officedocument.presentationml.notesSlide+xml"/>
  <Override PartName="/ppt/notesSlides/notesSlide4.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1.xml" ContentType="application/vnd.openxmlformats-officedocument.presentationml.notesSlide+xml"/>
  <Override PartName="/ppt/webextensions/webextension1.xml" ContentType="application/vnd.ms-office.webextension+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webextensions/taskpanes.xml" ContentType="application/vnd.ms-office.webextensiontaskpane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314" r:id="rId2"/>
    <p:sldId id="323" r:id="rId3"/>
    <p:sldId id="257" r:id="rId4"/>
    <p:sldId id="315" r:id="rId5"/>
    <p:sldId id="636" r:id="rId6"/>
    <p:sldId id="637" r:id="rId7"/>
    <p:sldId id="318" r:id="rId8"/>
    <p:sldId id="594" r:id="rId9"/>
    <p:sldId id="638" r:id="rId10"/>
    <p:sldId id="687" r:id="rId11"/>
    <p:sldId id="688" r:id="rId12"/>
    <p:sldId id="689" r:id="rId13"/>
    <p:sldId id="603" r:id="rId14"/>
    <p:sldId id="604" r:id="rId15"/>
    <p:sldId id="510" r:id="rId16"/>
    <p:sldId id="511" r:id="rId17"/>
    <p:sldId id="515" r:id="rId18"/>
    <p:sldId id="639" r:id="rId19"/>
    <p:sldId id="516" r:id="rId20"/>
    <p:sldId id="517" r:id="rId21"/>
    <p:sldId id="552" r:id="rId22"/>
    <p:sldId id="642" r:id="rId23"/>
    <p:sldId id="690" r:id="rId24"/>
    <p:sldId id="691" r:id="rId25"/>
    <p:sldId id="692" r:id="rId26"/>
    <p:sldId id="644" r:id="rId27"/>
    <p:sldId id="645" r:id="rId28"/>
    <p:sldId id="646" r:id="rId29"/>
    <p:sldId id="533" r:id="rId30"/>
    <p:sldId id="647" r:id="rId31"/>
    <p:sldId id="693" r:id="rId32"/>
    <p:sldId id="694" r:id="rId33"/>
    <p:sldId id="695" r:id="rId34"/>
    <p:sldId id="512" r:id="rId35"/>
    <p:sldId id="650" r:id="rId36"/>
    <p:sldId id="651" r:id="rId37"/>
    <p:sldId id="652" r:id="rId38"/>
    <p:sldId id="696" r:id="rId39"/>
    <p:sldId id="697" r:id="rId40"/>
    <p:sldId id="698" r:id="rId41"/>
    <p:sldId id="653" r:id="rId42"/>
    <p:sldId id="557" r:id="rId43"/>
    <p:sldId id="654" r:id="rId44"/>
    <p:sldId id="655" r:id="rId45"/>
    <p:sldId id="656" r:id="rId46"/>
    <p:sldId id="658" r:id="rId47"/>
    <p:sldId id="634" r:id="rId48"/>
    <p:sldId id="278" r:id="rId49"/>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02" autoAdjust="0"/>
    <p:restoredTop sz="94719"/>
  </p:normalViewPr>
  <p:slideViewPr>
    <p:cSldViewPr>
      <p:cViewPr varScale="1">
        <p:scale>
          <a:sx n="156" d="100"/>
          <a:sy n="156" d="100"/>
        </p:scale>
        <p:origin x="192" y="24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27" d="100"/>
          <a:sy n="127" d="100"/>
        </p:scale>
        <p:origin x="912"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7853EB-386B-113D-FC85-883F67491150}"/>
              </a:ext>
            </a:extLst>
          </p:cNvPr>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AB8EDD0-DF52-9415-F0EA-2C386D75970F}"/>
              </a:ext>
            </a:extLst>
          </p:cNvPr>
          <p:cNvSpPr>
            <a:spLocks noGrp="1"/>
          </p:cNvSpPr>
          <p:nvPr>
            <p:ph type="dt" sz="quarter" idx="1"/>
          </p:nvPr>
        </p:nvSpPr>
        <p:spPr>
          <a:xfrm>
            <a:off x="5180013" y="0"/>
            <a:ext cx="3962400" cy="257175"/>
          </a:xfrm>
          <a:prstGeom prst="rect">
            <a:avLst/>
          </a:prstGeom>
        </p:spPr>
        <p:txBody>
          <a:bodyPr vert="horz" lIns="91440" tIns="45720" rIns="91440" bIns="45720" rtlCol="0"/>
          <a:lstStyle>
            <a:lvl1pPr algn="r">
              <a:defRPr sz="1200"/>
            </a:lvl1pPr>
          </a:lstStyle>
          <a:p>
            <a:fld id="{B8BA4392-BDD2-42FD-B5C7-4D9D794F8438}" type="datetimeFigureOut">
              <a:rPr lang="en-IN" smtClean="0"/>
              <a:t>13/08/25</a:t>
            </a:fld>
            <a:endParaRPr lang="en-IN"/>
          </a:p>
        </p:txBody>
      </p:sp>
      <p:sp>
        <p:nvSpPr>
          <p:cNvPr id="4" name="Footer Placeholder 3">
            <a:extLst>
              <a:ext uri="{FF2B5EF4-FFF2-40B4-BE49-F238E27FC236}">
                <a16:creationId xmlns:a16="http://schemas.microsoft.com/office/drawing/2014/main" id="{81C8007D-5464-361A-20E6-A2969DE4884B}"/>
              </a:ext>
            </a:extLst>
          </p:cNvPr>
          <p:cNvSpPr>
            <a:spLocks noGrp="1"/>
          </p:cNvSpPr>
          <p:nvPr>
            <p:ph type="ftr" sz="quarter" idx="2"/>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8190708-840F-D3BA-0707-E92C06DAFBE5}"/>
              </a:ext>
            </a:extLst>
          </p:cNvPr>
          <p:cNvSpPr>
            <a:spLocks noGrp="1"/>
          </p:cNvSpPr>
          <p:nvPr>
            <p:ph type="sldNum" sz="quarter" idx="3"/>
          </p:nvPr>
        </p:nvSpPr>
        <p:spPr>
          <a:xfrm>
            <a:off x="5180013" y="4886325"/>
            <a:ext cx="3962400" cy="257175"/>
          </a:xfrm>
          <a:prstGeom prst="rect">
            <a:avLst/>
          </a:prstGeom>
        </p:spPr>
        <p:txBody>
          <a:bodyPr vert="horz" lIns="91440" tIns="45720" rIns="91440" bIns="45720" rtlCol="0" anchor="b"/>
          <a:lstStyle>
            <a:lvl1pPr algn="r">
              <a:defRPr sz="1200"/>
            </a:lvl1pPr>
          </a:lstStyle>
          <a:p>
            <a:fld id="{5B59A4ED-56DC-4DD3-87D7-1800C6770EBC}" type="slidenum">
              <a:rPr lang="en-IN" smtClean="0"/>
              <a:t>‹#›</a:t>
            </a:fld>
            <a:endParaRPr lang="en-IN"/>
          </a:p>
        </p:txBody>
      </p:sp>
    </p:spTree>
    <p:extLst>
      <p:ext uri="{BB962C8B-B14F-4D97-AF65-F5344CB8AC3E}">
        <p14:creationId xmlns:p14="http://schemas.microsoft.com/office/powerpoint/2010/main" val="8384258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4CAE2706-9892-46BD-890C-EB2EED2BD2B4}" type="datetimeFigureOut">
              <a:rPr lang="en-IN" smtClean="0"/>
              <a:t>13/08/25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431BB58-19E4-4E06-AF5F-25321B24F1AE}" type="slidenum">
              <a:rPr lang="en-IN" smtClean="0"/>
              <a:t>‹#›</a:t>
            </a:fld>
            <a:endParaRPr lang="en-IN"/>
          </a:p>
        </p:txBody>
      </p:sp>
    </p:spTree>
    <p:extLst>
      <p:ext uri="{BB962C8B-B14F-4D97-AF65-F5344CB8AC3E}">
        <p14:creationId xmlns:p14="http://schemas.microsoft.com/office/powerpoint/2010/main" val="55831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31BB58-19E4-4E06-AF5F-25321B24F1AE}" type="slidenum">
              <a:rPr lang="en-IN" smtClean="0"/>
              <a:t>7</a:t>
            </a:fld>
            <a:endParaRPr lang="en-IN"/>
          </a:p>
        </p:txBody>
      </p:sp>
    </p:spTree>
    <p:extLst>
      <p:ext uri="{BB962C8B-B14F-4D97-AF65-F5344CB8AC3E}">
        <p14:creationId xmlns:p14="http://schemas.microsoft.com/office/powerpoint/2010/main" val="2801925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31BB58-19E4-4E06-AF5F-25321B24F1AE}" type="slidenum">
              <a:rPr lang="en-IN" smtClean="0"/>
              <a:t>15</a:t>
            </a:fld>
            <a:endParaRPr lang="en-IN"/>
          </a:p>
        </p:txBody>
      </p:sp>
    </p:spTree>
    <p:extLst>
      <p:ext uri="{BB962C8B-B14F-4D97-AF65-F5344CB8AC3E}">
        <p14:creationId xmlns:p14="http://schemas.microsoft.com/office/powerpoint/2010/main" val="4113222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31BB58-19E4-4E06-AF5F-25321B24F1AE}" type="slidenum">
              <a:rPr lang="en-IN" smtClean="0"/>
              <a:t>23</a:t>
            </a:fld>
            <a:endParaRPr lang="en-IN"/>
          </a:p>
        </p:txBody>
      </p:sp>
    </p:spTree>
    <p:extLst>
      <p:ext uri="{BB962C8B-B14F-4D97-AF65-F5344CB8AC3E}">
        <p14:creationId xmlns:p14="http://schemas.microsoft.com/office/powerpoint/2010/main" val="4206372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AA7D9-06D1-CB39-87AB-0F3276B9C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737BC-2A6E-F72B-ED74-DDAEF8992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28D3C-9CB5-ABB4-BDE6-9EC63E954D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E971986-16F8-9805-0796-68FA154E887B}"/>
              </a:ext>
            </a:extLst>
          </p:cNvPr>
          <p:cNvSpPr>
            <a:spLocks noGrp="1"/>
          </p:cNvSpPr>
          <p:nvPr>
            <p:ph type="sldNum" sz="quarter" idx="5"/>
          </p:nvPr>
        </p:nvSpPr>
        <p:spPr/>
        <p:txBody>
          <a:bodyPr/>
          <a:lstStyle/>
          <a:p>
            <a:fld id="{4431BB58-19E4-4E06-AF5F-25321B24F1AE}" type="slidenum">
              <a:rPr lang="en-IN" smtClean="0"/>
              <a:t>31</a:t>
            </a:fld>
            <a:endParaRPr lang="en-IN"/>
          </a:p>
        </p:txBody>
      </p:sp>
    </p:spTree>
    <p:extLst>
      <p:ext uri="{BB962C8B-B14F-4D97-AF65-F5344CB8AC3E}">
        <p14:creationId xmlns:p14="http://schemas.microsoft.com/office/powerpoint/2010/main" val="3236914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6322-EA59-8CEA-81B1-EA8F4128B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B996C-A1F1-EF42-83DA-5FFF222F6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D5BE2E-3739-7C6F-8653-13400EC68B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DE54F0-BC0D-4CA8-07DB-B22CE1217FEC}"/>
              </a:ext>
            </a:extLst>
          </p:cNvPr>
          <p:cNvSpPr>
            <a:spLocks noGrp="1"/>
          </p:cNvSpPr>
          <p:nvPr>
            <p:ph type="sldNum" sz="quarter" idx="5"/>
          </p:nvPr>
        </p:nvSpPr>
        <p:spPr/>
        <p:txBody>
          <a:bodyPr/>
          <a:lstStyle/>
          <a:p>
            <a:fld id="{4431BB58-19E4-4E06-AF5F-25321B24F1AE}" type="slidenum">
              <a:rPr lang="en-IN" smtClean="0"/>
              <a:t>38</a:t>
            </a:fld>
            <a:endParaRPr lang="en-IN"/>
          </a:p>
        </p:txBody>
      </p:sp>
    </p:spTree>
    <p:extLst>
      <p:ext uri="{BB962C8B-B14F-4D97-AF65-F5344CB8AC3E}">
        <p14:creationId xmlns:p14="http://schemas.microsoft.com/office/powerpoint/2010/main" val="2694781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21.png"/><Relationship Id="rId4"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3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4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90" y="0"/>
            <a:ext cx="9143809" cy="5143499"/>
          </a:xfrm>
          <a:prstGeom prst="rect">
            <a:avLst/>
          </a:prstGeom>
        </p:spPr>
      </p:pic>
      <p:pic>
        <p:nvPicPr>
          <p:cNvPr id="17" name="bg object 17"/>
          <p:cNvPicPr/>
          <p:nvPr/>
        </p:nvPicPr>
        <p:blipFill>
          <a:blip r:embed="rId3" cstate="print"/>
          <a:stretch>
            <a:fillRect/>
          </a:stretch>
        </p:blipFill>
        <p:spPr>
          <a:xfrm>
            <a:off x="1381885" y="2232820"/>
            <a:ext cx="6380229" cy="1362653"/>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DC2A43-75D9-E04F-BAE6-69037DA92D9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 y="0"/>
            <a:ext cx="9193816" cy="5143500"/>
          </a:xfrm>
          <a:prstGeom prst="rect">
            <a:avLst/>
          </a:prstGeom>
        </p:spPr>
      </p:pic>
      <p:sp>
        <p:nvSpPr>
          <p:cNvPr id="3" name="Text Placeholder 2">
            <a:extLst>
              <a:ext uri="{FF2B5EF4-FFF2-40B4-BE49-F238E27FC236}">
                <a16:creationId xmlns:a16="http://schemas.microsoft.com/office/drawing/2014/main" id="{19C78535-C7E1-E34A-865F-B1C9090AF671}"/>
              </a:ext>
            </a:extLst>
          </p:cNvPr>
          <p:cNvSpPr>
            <a:spLocks noGrp="1"/>
          </p:cNvSpPr>
          <p:nvPr>
            <p:ph type="body" idx="1" hasCustomPrompt="1"/>
          </p:nvPr>
        </p:nvSpPr>
        <p:spPr>
          <a:xfrm>
            <a:off x="3185117" y="2867231"/>
            <a:ext cx="2764241" cy="528297"/>
          </a:xfrm>
        </p:spPr>
        <p:txBody>
          <a:bodyPr anchor="t">
            <a:normAutofit/>
          </a:bodyPr>
          <a:lstStyle>
            <a:lvl1pPr marL="0" indent="0" algn="ctr">
              <a:buNone/>
              <a:defRPr sz="33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Subtitle</a:t>
            </a:r>
          </a:p>
        </p:txBody>
      </p:sp>
      <p:sp>
        <p:nvSpPr>
          <p:cNvPr id="8" name="Rectangle 7">
            <a:extLst>
              <a:ext uri="{FF2B5EF4-FFF2-40B4-BE49-F238E27FC236}">
                <a16:creationId xmlns:a16="http://schemas.microsoft.com/office/drawing/2014/main" id="{B6C6D90E-20DA-6349-8D4A-81E4CC758173}"/>
              </a:ext>
            </a:extLst>
          </p:cNvPr>
          <p:cNvSpPr/>
          <p:nvPr userDrawn="1"/>
        </p:nvSpPr>
        <p:spPr>
          <a:xfrm>
            <a:off x="2645610" y="2307602"/>
            <a:ext cx="3902975" cy="528296"/>
          </a:xfrm>
          <a:prstGeom prst="rect">
            <a:avLst/>
          </a:prstGeom>
          <a:solidFill>
            <a:srgbClr val="0199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9815947-133C-164B-AD68-672FB647772E}"/>
              </a:ext>
            </a:extLst>
          </p:cNvPr>
          <p:cNvSpPr>
            <a:spLocks noGrp="1"/>
          </p:cNvSpPr>
          <p:nvPr>
            <p:ph type="title" hasCustomPrompt="1"/>
          </p:nvPr>
        </p:nvSpPr>
        <p:spPr>
          <a:xfrm>
            <a:off x="2727636" y="2338935"/>
            <a:ext cx="3679204" cy="465629"/>
          </a:xfrm>
        </p:spPr>
        <p:txBody>
          <a:bodyPr anchor="ctr">
            <a:normAutofit/>
          </a:bodyPr>
          <a:lstStyle>
            <a:lvl1pPr algn="ctr">
              <a:defRPr sz="3300" b="1">
                <a:solidFill>
                  <a:schemeClr val="bg1"/>
                </a:solidFill>
              </a:defRPr>
            </a:lvl1pPr>
          </a:lstStyle>
          <a:p>
            <a:r>
              <a:rPr lang="en-GB" dirty="0"/>
              <a:t>Title/Slide No.</a:t>
            </a:r>
            <a:endParaRPr lang="en-US" dirty="0"/>
          </a:p>
        </p:txBody>
      </p:sp>
    </p:spTree>
    <p:extLst>
      <p:ext uri="{BB962C8B-B14F-4D97-AF65-F5344CB8AC3E}">
        <p14:creationId xmlns:p14="http://schemas.microsoft.com/office/powerpoint/2010/main" val="269923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RESTAURANT1">
    <p:spTree>
      <p:nvGrpSpPr>
        <p:cNvPr id="1" name=""/>
        <p:cNvGrpSpPr/>
        <p:nvPr/>
      </p:nvGrpSpPr>
      <p:grpSpPr>
        <a:xfrm>
          <a:off x="0" y="0"/>
          <a:ext cx="0" cy="0"/>
          <a:chOff x="0" y="0"/>
          <a:chExt cx="0" cy="0"/>
        </a:xfrm>
      </p:grpSpPr>
      <p:sp>
        <p:nvSpPr>
          <p:cNvPr id="11" name="Zástupný symbol obrázku 5">
            <a:extLst>
              <a:ext uri="{FF2B5EF4-FFF2-40B4-BE49-F238E27FC236}">
                <a16:creationId xmlns:a16="http://schemas.microsoft.com/office/drawing/2014/main" id="{F83A3BA7-FD37-0043-BB8B-FD2655FCA9FB}"/>
              </a:ext>
            </a:extLst>
          </p:cNvPr>
          <p:cNvSpPr>
            <a:spLocks noGrp="1"/>
          </p:cNvSpPr>
          <p:nvPr>
            <p:ph type="pic" sz="quarter" idx="10"/>
          </p:nvPr>
        </p:nvSpPr>
        <p:spPr>
          <a:xfrm>
            <a:off x="-2381" y="0"/>
            <a:ext cx="5827404" cy="215444"/>
          </a:xfrm>
          <a:solidFill>
            <a:srgbClr val="00B0F0"/>
          </a:solidFill>
        </p:spPr>
        <p:txBody>
          <a:bodyPr/>
          <a:lstStyle>
            <a:lvl1pPr>
              <a:defRPr>
                <a:solidFill>
                  <a:schemeClr val="bg1"/>
                </a:solidFill>
              </a:defRPr>
            </a:lvl1pPr>
          </a:lstStyle>
          <a:p>
            <a:endParaRPr lang="cs-CZ" dirty="0"/>
          </a:p>
        </p:txBody>
      </p:sp>
      <p:sp>
        <p:nvSpPr>
          <p:cNvPr id="2" name="Nadpis 1">
            <a:extLst>
              <a:ext uri="{FF2B5EF4-FFF2-40B4-BE49-F238E27FC236}">
                <a16:creationId xmlns:a16="http://schemas.microsoft.com/office/drawing/2014/main" id="{DB771279-5D5C-9A4D-9F39-19893B3085C2}"/>
              </a:ext>
            </a:extLst>
          </p:cNvPr>
          <p:cNvSpPr>
            <a:spLocks noGrp="1"/>
          </p:cNvSpPr>
          <p:nvPr>
            <p:ph type="ctrTitle" hasCustomPrompt="1"/>
          </p:nvPr>
        </p:nvSpPr>
        <p:spPr>
          <a:xfrm>
            <a:off x="6030568" y="121968"/>
            <a:ext cx="2966830" cy="633050"/>
          </a:xfrm>
        </p:spPr>
        <p:txBody>
          <a:bodyPr anchor="b">
            <a:normAutofit/>
          </a:bodyPr>
          <a:lstStyle>
            <a:lvl1pPr algn="l">
              <a:defRPr sz="2250" b="1">
                <a:solidFill>
                  <a:schemeClr val="tx1">
                    <a:lumMod val="65000"/>
                    <a:lumOff val="35000"/>
                  </a:schemeClr>
                </a:solidFill>
              </a:defRPr>
            </a:lvl1pPr>
          </a:lstStyle>
          <a:p>
            <a:r>
              <a:rPr lang="cs-CZ" dirty="0"/>
              <a:t>RESTAURANT</a:t>
            </a:r>
          </a:p>
        </p:txBody>
      </p:sp>
      <p:sp>
        <p:nvSpPr>
          <p:cNvPr id="12" name="Zástupný text 4">
            <a:extLst>
              <a:ext uri="{FF2B5EF4-FFF2-40B4-BE49-F238E27FC236}">
                <a16:creationId xmlns:a16="http://schemas.microsoft.com/office/drawing/2014/main" id="{F708A11E-85E1-9B47-ADF9-339DD6CEBF13}"/>
              </a:ext>
            </a:extLst>
          </p:cNvPr>
          <p:cNvSpPr>
            <a:spLocks noGrp="1"/>
          </p:cNvSpPr>
          <p:nvPr>
            <p:ph type="body" sz="quarter" idx="11" hasCustomPrompt="1"/>
          </p:nvPr>
        </p:nvSpPr>
        <p:spPr>
          <a:xfrm>
            <a:off x="7390662" y="1906713"/>
            <a:ext cx="1606234" cy="217442"/>
          </a:xfrm>
        </p:spPr>
        <p:txBody>
          <a:bodyPr anchor="ct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424242"/>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dirty="0"/>
              <a:t>text</a:t>
            </a:r>
            <a:endParaRPr lang="cs-CZ" dirty="0"/>
          </a:p>
        </p:txBody>
      </p:sp>
      <p:sp>
        <p:nvSpPr>
          <p:cNvPr id="17" name="Podnadpis 2">
            <a:extLst>
              <a:ext uri="{FF2B5EF4-FFF2-40B4-BE49-F238E27FC236}">
                <a16:creationId xmlns:a16="http://schemas.microsoft.com/office/drawing/2014/main" id="{2AB9522F-B05A-3D4E-867B-093DB4470C0F}"/>
              </a:ext>
            </a:extLst>
          </p:cNvPr>
          <p:cNvSpPr>
            <a:spLocks noGrp="1"/>
          </p:cNvSpPr>
          <p:nvPr>
            <p:ph type="subTitle" idx="1" hasCustomPrompt="1"/>
          </p:nvPr>
        </p:nvSpPr>
        <p:spPr>
          <a:xfrm>
            <a:off x="6030071" y="809979"/>
            <a:ext cx="2966829" cy="893570"/>
          </a:xfrm>
        </p:spPr>
        <p:txBody>
          <a:bodyPr anchor="t">
            <a:normAutofit/>
          </a:bodyPr>
          <a:lstStyle>
            <a:lvl1pPr marL="0" indent="0" algn="l">
              <a:lnSpc>
                <a:spcPct val="100000"/>
              </a:lnSpc>
              <a:buNone/>
              <a:defRPr sz="900">
                <a:solidFill>
                  <a:srgbClr val="42424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noProof="0" dirty="0"/>
              <a:t>Short description</a:t>
            </a:r>
          </a:p>
        </p:txBody>
      </p:sp>
      <p:sp>
        <p:nvSpPr>
          <p:cNvPr id="13" name="Zástupný text 4">
            <a:extLst>
              <a:ext uri="{FF2B5EF4-FFF2-40B4-BE49-F238E27FC236}">
                <a16:creationId xmlns:a16="http://schemas.microsoft.com/office/drawing/2014/main" id="{308176BE-4D01-7042-BA34-6F3560DD98A7}"/>
              </a:ext>
            </a:extLst>
          </p:cNvPr>
          <p:cNvSpPr>
            <a:spLocks noGrp="1"/>
          </p:cNvSpPr>
          <p:nvPr>
            <p:ph type="body" sz="quarter" idx="13" hasCustomPrompt="1"/>
          </p:nvPr>
        </p:nvSpPr>
        <p:spPr>
          <a:xfrm>
            <a:off x="7390662" y="2247394"/>
            <a:ext cx="1606234" cy="217442"/>
          </a:xfrm>
        </p:spPr>
        <p:txBody>
          <a:bodyPr anchor="ct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424242"/>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dirty="0"/>
              <a:t>text</a:t>
            </a:r>
            <a:endParaRPr lang="cs-CZ" dirty="0"/>
          </a:p>
        </p:txBody>
      </p:sp>
      <p:sp>
        <p:nvSpPr>
          <p:cNvPr id="16" name="Zástupný text 4">
            <a:extLst>
              <a:ext uri="{FF2B5EF4-FFF2-40B4-BE49-F238E27FC236}">
                <a16:creationId xmlns:a16="http://schemas.microsoft.com/office/drawing/2014/main" id="{3828DDE0-82BE-E543-B8BE-20BC51AF6ABC}"/>
              </a:ext>
            </a:extLst>
          </p:cNvPr>
          <p:cNvSpPr>
            <a:spLocks noGrp="1"/>
          </p:cNvSpPr>
          <p:nvPr>
            <p:ph type="body" sz="quarter" idx="14" hasCustomPrompt="1"/>
          </p:nvPr>
        </p:nvSpPr>
        <p:spPr>
          <a:xfrm>
            <a:off x="7390662" y="2590202"/>
            <a:ext cx="1606238" cy="217442"/>
          </a:xfrm>
        </p:spPr>
        <p:txBody>
          <a:bodyPr anchor="ct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424242"/>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dirty="0"/>
              <a:t>text</a:t>
            </a:r>
            <a:endParaRPr lang="cs-CZ" dirty="0"/>
          </a:p>
        </p:txBody>
      </p:sp>
      <p:sp>
        <p:nvSpPr>
          <p:cNvPr id="18" name="Zástupný text 4">
            <a:extLst>
              <a:ext uri="{FF2B5EF4-FFF2-40B4-BE49-F238E27FC236}">
                <a16:creationId xmlns:a16="http://schemas.microsoft.com/office/drawing/2014/main" id="{6E9F0920-872C-2142-85B6-41DD9144B828}"/>
              </a:ext>
            </a:extLst>
          </p:cNvPr>
          <p:cNvSpPr>
            <a:spLocks noGrp="1"/>
          </p:cNvSpPr>
          <p:nvPr>
            <p:ph type="body" sz="quarter" idx="15" hasCustomPrompt="1"/>
          </p:nvPr>
        </p:nvSpPr>
        <p:spPr>
          <a:xfrm>
            <a:off x="7390662" y="2931085"/>
            <a:ext cx="1606238" cy="217442"/>
          </a:xfrm>
        </p:spPr>
        <p:txBody>
          <a:bodyPr anchor="ct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424242"/>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dirty="0"/>
              <a:t>text</a:t>
            </a:r>
            <a:endParaRPr lang="cs-CZ" dirty="0"/>
          </a:p>
        </p:txBody>
      </p:sp>
      <p:sp>
        <p:nvSpPr>
          <p:cNvPr id="23" name="Zástupný text 4">
            <a:extLst>
              <a:ext uri="{FF2B5EF4-FFF2-40B4-BE49-F238E27FC236}">
                <a16:creationId xmlns:a16="http://schemas.microsoft.com/office/drawing/2014/main" id="{DD733FAE-6F06-4244-8ACC-0B34D064DB10}"/>
              </a:ext>
            </a:extLst>
          </p:cNvPr>
          <p:cNvSpPr>
            <a:spLocks noGrp="1"/>
          </p:cNvSpPr>
          <p:nvPr>
            <p:ph type="body" sz="quarter" idx="16" hasCustomPrompt="1"/>
          </p:nvPr>
        </p:nvSpPr>
        <p:spPr>
          <a:xfrm>
            <a:off x="7390662" y="3286909"/>
            <a:ext cx="1606238" cy="563210"/>
          </a:xfrm>
        </p:spPr>
        <p:txBody>
          <a:bodyPr anchor="t">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900">
                <a:solidFill>
                  <a:srgbClr val="424242"/>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dirty="0"/>
              <a:t>text</a:t>
            </a:r>
            <a:endParaRPr lang="cs-CZ" dirty="0"/>
          </a:p>
        </p:txBody>
      </p:sp>
      <p:pic>
        <p:nvPicPr>
          <p:cNvPr id="25" name="Graphic 14" descr="Fork and knife">
            <a:extLst>
              <a:ext uri="{FF2B5EF4-FFF2-40B4-BE49-F238E27FC236}">
                <a16:creationId xmlns:a16="http://schemas.microsoft.com/office/drawing/2014/main" id="{DCE40F40-3290-6846-9EF5-968D3EA195E9}"/>
              </a:ext>
            </a:extLst>
          </p:cNvPr>
          <p:cNvPicPr>
            <a:picLocks noChangeAspect="1"/>
          </p:cNvPicPr>
          <p:nvPr/>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04390" y="2247729"/>
            <a:ext cx="216335" cy="216334"/>
          </a:xfrm>
          <a:prstGeom prst="rect">
            <a:avLst/>
          </a:prstGeom>
        </p:spPr>
      </p:pic>
      <p:pic>
        <p:nvPicPr>
          <p:cNvPr id="26" name="Graphic 15" descr="Marker">
            <a:extLst>
              <a:ext uri="{FF2B5EF4-FFF2-40B4-BE49-F238E27FC236}">
                <a16:creationId xmlns:a16="http://schemas.microsoft.com/office/drawing/2014/main" id="{CF00FE68-B809-CA4B-B642-BD716D28135E}"/>
              </a:ext>
            </a:extLst>
          </p:cNvPr>
          <p:cNvPicPr>
            <a:picLocks noChangeAspect="1"/>
          </p:cNvPicPr>
          <p:nvPr/>
        </p:nvPicPr>
        <p:blipFill>
          <a:blip r:embed="rId4"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04392" y="2594112"/>
            <a:ext cx="216334" cy="216334"/>
          </a:xfrm>
          <a:prstGeom prst="rect">
            <a:avLst/>
          </a:prstGeom>
        </p:spPr>
      </p:pic>
      <p:pic>
        <p:nvPicPr>
          <p:cNvPr id="27" name="Graphic 16" descr="Drama">
            <a:extLst>
              <a:ext uri="{FF2B5EF4-FFF2-40B4-BE49-F238E27FC236}">
                <a16:creationId xmlns:a16="http://schemas.microsoft.com/office/drawing/2014/main" id="{F4998DA6-7C0C-CD4A-8625-5BF9F7D256A1}"/>
              </a:ext>
            </a:extLst>
          </p:cNvPr>
          <p:cNvPicPr>
            <a:picLocks noChangeAspect="1"/>
          </p:cNvPicPr>
          <p:nvPr/>
        </p:nvPicPr>
        <p:blipFill>
          <a:blip r:embed="rId6"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06062" y="1911918"/>
            <a:ext cx="216335" cy="216334"/>
          </a:xfrm>
          <a:prstGeom prst="rect">
            <a:avLst/>
          </a:prstGeom>
        </p:spPr>
      </p:pic>
      <p:pic>
        <p:nvPicPr>
          <p:cNvPr id="28" name="Graphic 17" descr="Plant">
            <a:extLst>
              <a:ext uri="{FF2B5EF4-FFF2-40B4-BE49-F238E27FC236}">
                <a16:creationId xmlns:a16="http://schemas.microsoft.com/office/drawing/2014/main" id="{827B51BA-E340-8049-9858-0E52B82D7F14}"/>
              </a:ext>
            </a:extLst>
          </p:cNvPr>
          <p:cNvPicPr>
            <a:picLocks noChangeAspect="1"/>
          </p:cNvPicPr>
          <p:nvPr/>
        </p:nvPicPr>
        <p:blipFill rotWithShape="1">
          <a:blip r:embed="rId8"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rcRect l="7490" r="7125" b="21272"/>
          <a:stretch/>
        </p:blipFill>
        <p:spPr>
          <a:xfrm>
            <a:off x="6294644" y="2926161"/>
            <a:ext cx="235828" cy="217442"/>
          </a:xfrm>
          <a:prstGeom prst="rect">
            <a:avLst/>
          </a:prstGeom>
        </p:spPr>
      </p:pic>
      <p:pic>
        <p:nvPicPr>
          <p:cNvPr id="29" name="Graphic 18" descr="Children">
            <a:extLst>
              <a:ext uri="{FF2B5EF4-FFF2-40B4-BE49-F238E27FC236}">
                <a16:creationId xmlns:a16="http://schemas.microsoft.com/office/drawing/2014/main" id="{AF116162-68C1-E948-800F-D4769D5CF03B}"/>
              </a:ext>
            </a:extLst>
          </p:cNvPr>
          <p:cNvPicPr>
            <a:picLocks noChangeAspect="1"/>
          </p:cNvPicPr>
          <p:nvPr/>
        </p:nvPicPr>
        <p:blipFill>
          <a:blip r:embed="rId10"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06063" y="3274767"/>
            <a:ext cx="216334" cy="216333"/>
          </a:xfrm>
          <a:prstGeom prst="rect">
            <a:avLst/>
          </a:prstGeom>
        </p:spPr>
      </p:pic>
      <p:sp>
        <p:nvSpPr>
          <p:cNvPr id="24" name="TextovéPole 23">
            <a:extLst>
              <a:ext uri="{FF2B5EF4-FFF2-40B4-BE49-F238E27FC236}">
                <a16:creationId xmlns:a16="http://schemas.microsoft.com/office/drawing/2014/main" id="{D3153C4C-1E54-0F4E-910C-7CA4BBF7C8FC}"/>
              </a:ext>
            </a:extLst>
          </p:cNvPr>
          <p:cNvSpPr txBox="1"/>
          <p:nvPr userDrawn="1"/>
        </p:nvSpPr>
        <p:spPr>
          <a:xfrm>
            <a:off x="6652447" y="1913709"/>
            <a:ext cx="858058" cy="216982"/>
          </a:xfrm>
          <a:prstGeom prst="rect">
            <a:avLst/>
          </a:prstGeom>
          <a:noFill/>
        </p:spPr>
        <p:txBody>
          <a:bodyPr wrap="square" rtlCol="0" anchor="ctr">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900" b="1" i="0" dirty="0">
                <a:solidFill>
                  <a:srgbClr val="424242"/>
                </a:solidFill>
                <a:latin typeface="Century Gothic" panose="020B0502020202020204" pitchFamily="34" charset="0"/>
              </a:rPr>
              <a:t>Ambience:</a:t>
            </a:r>
            <a:endParaRPr lang="cs-CZ" sz="900" b="1" i="0" dirty="0">
              <a:solidFill>
                <a:srgbClr val="424242"/>
              </a:solidFill>
              <a:latin typeface="Century Gothic" panose="020B0502020202020204" pitchFamily="34" charset="0"/>
            </a:endParaRPr>
          </a:p>
        </p:txBody>
      </p:sp>
      <p:sp>
        <p:nvSpPr>
          <p:cNvPr id="36" name="TextovéPole 35">
            <a:extLst>
              <a:ext uri="{FF2B5EF4-FFF2-40B4-BE49-F238E27FC236}">
                <a16:creationId xmlns:a16="http://schemas.microsoft.com/office/drawing/2014/main" id="{9BA76D0F-5DCC-3649-ACA3-5E216D29D1AE}"/>
              </a:ext>
            </a:extLst>
          </p:cNvPr>
          <p:cNvSpPr txBox="1"/>
          <p:nvPr userDrawn="1"/>
        </p:nvSpPr>
        <p:spPr>
          <a:xfrm>
            <a:off x="6648571" y="2254063"/>
            <a:ext cx="742091" cy="216982"/>
          </a:xfrm>
          <a:prstGeom prst="rect">
            <a:avLst/>
          </a:prstGeom>
          <a:noFill/>
        </p:spPr>
        <p:txBody>
          <a:bodyPr wrap="square" rtlCol="0" anchor="ctr">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900" b="1" i="0" dirty="0">
                <a:solidFill>
                  <a:srgbClr val="424242"/>
                </a:solidFill>
                <a:latin typeface="Century Gothic" panose="020B0502020202020204" pitchFamily="34" charset="0"/>
              </a:rPr>
              <a:t>Cuisine:</a:t>
            </a:r>
            <a:endParaRPr lang="cs-CZ" sz="900" b="1" i="0" dirty="0">
              <a:solidFill>
                <a:srgbClr val="424242"/>
              </a:solidFill>
              <a:latin typeface="Century Gothic" panose="020B0502020202020204" pitchFamily="34" charset="0"/>
            </a:endParaRPr>
          </a:p>
        </p:txBody>
      </p:sp>
      <p:sp>
        <p:nvSpPr>
          <p:cNvPr id="37" name="TextovéPole 36">
            <a:extLst>
              <a:ext uri="{FF2B5EF4-FFF2-40B4-BE49-F238E27FC236}">
                <a16:creationId xmlns:a16="http://schemas.microsoft.com/office/drawing/2014/main" id="{F46F6739-55B9-CD41-A029-BA34CD271F52}"/>
              </a:ext>
            </a:extLst>
          </p:cNvPr>
          <p:cNvSpPr txBox="1"/>
          <p:nvPr userDrawn="1"/>
        </p:nvSpPr>
        <p:spPr>
          <a:xfrm>
            <a:off x="6649023" y="2602511"/>
            <a:ext cx="742091" cy="216982"/>
          </a:xfrm>
          <a:prstGeom prst="rect">
            <a:avLst/>
          </a:prstGeom>
          <a:noFill/>
        </p:spPr>
        <p:txBody>
          <a:bodyPr wrap="square" rtlCol="0" anchor="ctr">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900" b="1" i="0" dirty="0">
                <a:solidFill>
                  <a:srgbClr val="424242"/>
                </a:solidFill>
                <a:latin typeface="Century Gothic" panose="020B0502020202020204" pitchFamily="34" charset="0"/>
              </a:rPr>
              <a:t>Location:</a:t>
            </a:r>
            <a:endParaRPr lang="cs-CZ" sz="900" b="1" i="0" dirty="0">
              <a:solidFill>
                <a:srgbClr val="424242"/>
              </a:solidFill>
              <a:latin typeface="Century Gothic" panose="020B0502020202020204" pitchFamily="34" charset="0"/>
            </a:endParaRPr>
          </a:p>
        </p:txBody>
      </p:sp>
      <p:sp>
        <p:nvSpPr>
          <p:cNvPr id="38" name="TextovéPole 37">
            <a:extLst>
              <a:ext uri="{FF2B5EF4-FFF2-40B4-BE49-F238E27FC236}">
                <a16:creationId xmlns:a16="http://schemas.microsoft.com/office/drawing/2014/main" id="{4EC8D653-05AC-ED40-B022-CC1A76E0BD3E}"/>
              </a:ext>
            </a:extLst>
          </p:cNvPr>
          <p:cNvSpPr txBox="1"/>
          <p:nvPr userDrawn="1"/>
        </p:nvSpPr>
        <p:spPr>
          <a:xfrm>
            <a:off x="6649278" y="2936887"/>
            <a:ext cx="954440" cy="216982"/>
          </a:xfrm>
          <a:prstGeom prst="rect">
            <a:avLst/>
          </a:prstGeom>
          <a:noFill/>
        </p:spPr>
        <p:txBody>
          <a:bodyPr wrap="square" rtlCol="0" anchor="ctr">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900" b="1" i="0" dirty="0">
                <a:solidFill>
                  <a:srgbClr val="424242"/>
                </a:solidFill>
                <a:latin typeface="Century Gothic" panose="020B0502020202020204" pitchFamily="34" charset="0"/>
              </a:rPr>
              <a:t>Vegetarian:</a:t>
            </a:r>
            <a:endParaRPr lang="cs-CZ" sz="900" b="1" i="0" dirty="0">
              <a:solidFill>
                <a:srgbClr val="424242"/>
              </a:solidFill>
              <a:latin typeface="Century Gothic" panose="020B0502020202020204" pitchFamily="34" charset="0"/>
            </a:endParaRPr>
          </a:p>
        </p:txBody>
      </p:sp>
      <p:sp>
        <p:nvSpPr>
          <p:cNvPr id="39" name="TextovéPole 38">
            <a:extLst>
              <a:ext uri="{FF2B5EF4-FFF2-40B4-BE49-F238E27FC236}">
                <a16:creationId xmlns:a16="http://schemas.microsoft.com/office/drawing/2014/main" id="{87F5F649-FB6C-E94E-9E57-34E2DD4DAD54}"/>
              </a:ext>
            </a:extLst>
          </p:cNvPr>
          <p:cNvSpPr txBox="1"/>
          <p:nvPr userDrawn="1"/>
        </p:nvSpPr>
        <p:spPr>
          <a:xfrm>
            <a:off x="6650315" y="3270622"/>
            <a:ext cx="954440" cy="216982"/>
          </a:xfrm>
          <a:prstGeom prst="rect">
            <a:avLst/>
          </a:prstGeom>
          <a:noFill/>
        </p:spPr>
        <p:txBody>
          <a:bodyPr wrap="square" rtlCol="0" anchor="ctr">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900" b="1" i="0" dirty="0">
                <a:solidFill>
                  <a:srgbClr val="424242"/>
                </a:solidFill>
                <a:latin typeface="Century Gothic" panose="020B0502020202020204" pitchFamily="34" charset="0"/>
              </a:rPr>
              <a:t>Capacity:</a:t>
            </a:r>
            <a:endParaRPr lang="cs-CZ" sz="900" b="1" i="0" dirty="0">
              <a:solidFill>
                <a:srgbClr val="424242"/>
              </a:solidFill>
              <a:latin typeface="Century Gothic" panose="020B0502020202020204" pitchFamily="34" charset="0"/>
            </a:endParaRPr>
          </a:p>
        </p:txBody>
      </p:sp>
    </p:spTree>
    <p:extLst>
      <p:ext uri="{BB962C8B-B14F-4D97-AF65-F5344CB8AC3E}">
        <p14:creationId xmlns:p14="http://schemas.microsoft.com/office/powerpoint/2010/main" val="4214402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MEETINGS2">
    <p:spTree>
      <p:nvGrpSpPr>
        <p:cNvPr id="1" name=""/>
        <p:cNvGrpSpPr/>
        <p:nvPr/>
      </p:nvGrpSpPr>
      <p:grpSpPr>
        <a:xfrm>
          <a:off x="0" y="0"/>
          <a:ext cx="0" cy="0"/>
          <a:chOff x="0" y="0"/>
          <a:chExt cx="0" cy="0"/>
        </a:xfrm>
      </p:grpSpPr>
      <p:sp>
        <p:nvSpPr>
          <p:cNvPr id="6" name="Zástupný symbol obrázku 5">
            <a:extLst>
              <a:ext uri="{FF2B5EF4-FFF2-40B4-BE49-F238E27FC236}">
                <a16:creationId xmlns:a16="http://schemas.microsoft.com/office/drawing/2014/main" id="{59F8C684-778C-A944-AC28-C09626777EFB}"/>
              </a:ext>
            </a:extLst>
          </p:cNvPr>
          <p:cNvSpPr>
            <a:spLocks noGrp="1"/>
          </p:cNvSpPr>
          <p:nvPr>
            <p:ph type="pic" sz="quarter" idx="10"/>
          </p:nvPr>
        </p:nvSpPr>
        <p:spPr>
          <a:xfrm>
            <a:off x="4487052" y="1991751"/>
            <a:ext cx="4114290" cy="215444"/>
          </a:xfrm>
          <a:solidFill>
            <a:srgbClr val="00B0F0"/>
          </a:solidFill>
        </p:spPr>
        <p:txBody>
          <a:bodyPr anchor="ctr"/>
          <a:lstStyle>
            <a:lvl1pPr marL="0" indent="0" algn="ctr">
              <a:buNone/>
              <a:defRPr>
                <a:solidFill>
                  <a:schemeClr val="bg1"/>
                </a:solidFill>
              </a:defRPr>
            </a:lvl1pPr>
          </a:lstStyle>
          <a:p>
            <a:endParaRPr lang="cs-CZ" dirty="0"/>
          </a:p>
        </p:txBody>
      </p:sp>
      <p:sp>
        <p:nvSpPr>
          <p:cNvPr id="2" name="Nadpis 1">
            <a:extLst>
              <a:ext uri="{FF2B5EF4-FFF2-40B4-BE49-F238E27FC236}">
                <a16:creationId xmlns:a16="http://schemas.microsoft.com/office/drawing/2014/main" id="{DB771279-5D5C-9A4D-9F39-19893B3085C2}"/>
              </a:ext>
            </a:extLst>
          </p:cNvPr>
          <p:cNvSpPr>
            <a:spLocks noGrp="1"/>
          </p:cNvSpPr>
          <p:nvPr>
            <p:ph type="ctrTitle" hasCustomPrompt="1"/>
          </p:nvPr>
        </p:nvSpPr>
        <p:spPr>
          <a:xfrm>
            <a:off x="628650" y="3792759"/>
            <a:ext cx="6624556" cy="679123"/>
          </a:xfrm>
        </p:spPr>
        <p:txBody>
          <a:bodyPr anchor="b">
            <a:normAutofit/>
          </a:bodyPr>
          <a:lstStyle>
            <a:lvl1pPr algn="l">
              <a:defRPr sz="3300" b="1">
                <a:solidFill>
                  <a:schemeClr val="tx1">
                    <a:lumMod val="65000"/>
                    <a:lumOff val="35000"/>
                  </a:schemeClr>
                </a:solidFill>
              </a:defRPr>
            </a:lvl1pPr>
          </a:lstStyle>
          <a:p>
            <a:r>
              <a:rPr lang="cs-CZ" dirty="0"/>
              <a:t>FLOORPLAN</a:t>
            </a:r>
          </a:p>
        </p:txBody>
      </p:sp>
      <p:sp>
        <p:nvSpPr>
          <p:cNvPr id="10" name="Zástupný symbol obrázku 5">
            <a:extLst>
              <a:ext uri="{FF2B5EF4-FFF2-40B4-BE49-F238E27FC236}">
                <a16:creationId xmlns:a16="http://schemas.microsoft.com/office/drawing/2014/main" id="{2AE02868-CE46-6C47-A46A-98F7899F0EB4}"/>
              </a:ext>
            </a:extLst>
          </p:cNvPr>
          <p:cNvSpPr>
            <a:spLocks noGrp="1"/>
          </p:cNvSpPr>
          <p:nvPr>
            <p:ph type="pic" sz="quarter" idx="12"/>
          </p:nvPr>
        </p:nvSpPr>
        <p:spPr>
          <a:xfrm>
            <a:off x="542658" y="1132891"/>
            <a:ext cx="3891098" cy="215444"/>
          </a:xfrm>
          <a:solidFill>
            <a:srgbClr val="00B0F0"/>
          </a:solidFill>
        </p:spPr>
        <p:txBody>
          <a:bodyPr anchor="ctr"/>
          <a:lstStyle>
            <a:lvl1pPr marL="0" indent="0" algn="ctr">
              <a:buNone/>
              <a:defRPr>
                <a:solidFill>
                  <a:schemeClr val="bg1"/>
                </a:solidFill>
              </a:defRPr>
            </a:lvl1pPr>
          </a:lstStyle>
          <a:p>
            <a:endParaRPr lang="cs-CZ"/>
          </a:p>
        </p:txBody>
      </p:sp>
      <p:sp>
        <p:nvSpPr>
          <p:cNvPr id="11" name="Zástupný symbol obrázku 5">
            <a:extLst>
              <a:ext uri="{FF2B5EF4-FFF2-40B4-BE49-F238E27FC236}">
                <a16:creationId xmlns:a16="http://schemas.microsoft.com/office/drawing/2014/main" id="{25AB896F-8462-3B4E-A6A3-55CD46A61C7E}"/>
              </a:ext>
            </a:extLst>
          </p:cNvPr>
          <p:cNvSpPr>
            <a:spLocks noGrp="1"/>
          </p:cNvSpPr>
          <p:nvPr>
            <p:ph type="pic" sz="quarter" idx="13"/>
          </p:nvPr>
        </p:nvSpPr>
        <p:spPr>
          <a:xfrm>
            <a:off x="542658" y="2798534"/>
            <a:ext cx="3891098" cy="215444"/>
          </a:xfrm>
          <a:solidFill>
            <a:srgbClr val="00B0F0"/>
          </a:solidFill>
        </p:spPr>
        <p:txBody>
          <a:bodyPr anchor="ctr"/>
          <a:lstStyle>
            <a:lvl1pPr marL="0" indent="0" algn="ctr">
              <a:buNone/>
              <a:defRPr>
                <a:solidFill>
                  <a:schemeClr val="bg1"/>
                </a:solidFill>
              </a:defRPr>
            </a:lvl1pPr>
          </a:lstStyle>
          <a:p>
            <a:endParaRPr lang="cs-CZ"/>
          </a:p>
        </p:txBody>
      </p:sp>
    </p:spTree>
    <p:extLst>
      <p:ext uri="{BB962C8B-B14F-4D97-AF65-F5344CB8AC3E}">
        <p14:creationId xmlns:p14="http://schemas.microsoft.com/office/powerpoint/2010/main" val="2988417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ACCOMMODATION">
    <p:spTree>
      <p:nvGrpSpPr>
        <p:cNvPr id="1" name=""/>
        <p:cNvGrpSpPr/>
        <p:nvPr/>
      </p:nvGrpSpPr>
      <p:grpSpPr>
        <a:xfrm>
          <a:off x="0" y="0"/>
          <a:ext cx="0" cy="0"/>
          <a:chOff x="0" y="0"/>
          <a:chExt cx="0" cy="0"/>
        </a:xfrm>
      </p:grpSpPr>
      <p:sp>
        <p:nvSpPr>
          <p:cNvPr id="15" name="Zástupný symbol obrázku 5">
            <a:extLst>
              <a:ext uri="{FF2B5EF4-FFF2-40B4-BE49-F238E27FC236}">
                <a16:creationId xmlns:a16="http://schemas.microsoft.com/office/drawing/2014/main" id="{89328FDC-6920-6C47-A6A8-535072CDFA07}"/>
              </a:ext>
            </a:extLst>
          </p:cNvPr>
          <p:cNvSpPr>
            <a:spLocks noGrp="1"/>
          </p:cNvSpPr>
          <p:nvPr>
            <p:ph type="pic" sz="quarter" idx="10"/>
          </p:nvPr>
        </p:nvSpPr>
        <p:spPr>
          <a:xfrm>
            <a:off x="-2381" y="-432"/>
            <a:ext cx="9146381" cy="215444"/>
          </a:xfrm>
          <a:solidFill>
            <a:srgbClr val="00B0F0"/>
          </a:solidFill>
        </p:spPr>
        <p:txBody>
          <a:bodyPr/>
          <a:lstStyle>
            <a:lvl1pPr algn="ctr">
              <a:defRPr>
                <a:solidFill>
                  <a:schemeClr val="bg1"/>
                </a:solidFill>
              </a:defRPr>
            </a:lvl1pPr>
          </a:lstStyle>
          <a:p>
            <a:endParaRPr lang="cs-CZ"/>
          </a:p>
        </p:txBody>
      </p:sp>
      <p:sp>
        <p:nvSpPr>
          <p:cNvPr id="19" name="Nadpis 1">
            <a:extLst>
              <a:ext uri="{FF2B5EF4-FFF2-40B4-BE49-F238E27FC236}">
                <a16:creationId xmlns:a16="http://schemas.microsoft.com/office/drawing/2014/main" id="{1A0CA619-221E-A748-8C46-F6B60E66E545}"/>
              </a:ext>
            </a:extLst>
          </p:cNvPr>
          <p:cNvSpPr>
            <a:spLocks noGrp="1"/>
          </p:cNvSpPr>
          <p:nvPr>
            <p:ph type="ctrTitle" hasCustomPrompt="1"/>
          </p:nvPr>
        </p:nvSpPr>
        <p:spPr>
          <a:xfrm>
            <a:off x="1481644" y="3494107"/>
            <a:ext cx="6310750" cy="853976"/>
          </a:xfrm>
        </p:spPr>
        <p:txBody>
          <a:bodyPr anchor="b">
            <a:normAutofit/>
          </a:bodyPr>
          <a:lstStyle>
            <a:lvl1pPr algn="l">
              <a:defRPr sz="3300" b="1">
                <a:solidFill>
                  <a:schemeClr val="tx1">
                    <a:lumMod val="65000"/>
                    <a:lumOff val="35000"/>
                  </a:schemeClr>
                </a:solidFill>
              </a:defRPr>
            </a:lvl1pPr>
          </a:lstStyle>
          <a:p>
            <a:r>
              <a:rPr lang="cs-CZ" dirty="0"/>
              <a:t>ACCOMMODATION NAME</a:t>
            </a:r>
          </a:p>
        </p:txBody>
      </p:sp>
      <p:pic>
        <p:nvPicPr>
          <p:cNvPr id="20" name="Obrázek 19" descr="Obsah obrázku kreslení&#10;&#10;Popis byl vytvořen automaticky">
            <a:extLst>
              <a:ext uri="{FF2B5EF4-FFF2-40B4-BE49-F238E27FC236}">
                <a16:creationId xmlns:a16="http://schemas.microsoft.com/office/drawing/2014/main" id="{BF5F8279-00D4-C44E-A8EA-05B1CF30C6EA}"/>
              </a:ext>
            </a:extLst>
          </p:cNvPr>
          <p:cNvPicPr>
            <a:picLocks noChangeAspect="1"/>
          </p:cNvPicPr>
          <p:nvPr userDrawn="1"/>
        </p:nvPicPr>
        <p:blipFill>
          <a:blip r:embed="rId2"/>
          <a:stretch>
            <a:fillRect/>
          </a:stretch>
        </p:blipFill>
        <p:spPr>
          <a:xfrm>
            <a:off x="688657" y="3888056"/>
            <a:ext cx="396693" cy="479584"/>
          </a:xfrm>
          <a:prstGeom prst="rect">
            <a:avLst/>
          </a:prstGeom>
        </p:spPr>
      </p:pic>
    </p:spTree>
    <p:extLst>
      <p:ext uri="{BB962C8B-B14F-4D97-AF65-F5344CB8AC3E}">
        <p14:creationId xmlns:p14="http://schemas.microsoft.com/office/powerpoint/2010/main" val="2887538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F69E4-3104-4747-8337-78CDCD402ED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 y="0"/>
            <a:ext cx="9193816" cy="5143500"/>
          </a:xfrm>
          <a:prstGeom prst="rect">
            <a:avLst/>
          </a:prstGeom>
        </p:spPr>
      </p:pic>
      <p:pic>
        <p:nvPicPr>
          <p:cNvPr id="7" name="Picture 6">
            <a:extLst>
              <a:ext uri="{FF2B5EF4-FFF2-40B4-BE49-F238E27FC236}">
                <a16:creationId xmlns:a16="http://schemas.microsoft.com/office/drawing/2014/main" id="{4203F479-900E-8644-A90F-11C107719F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9321373" flipV="1">
            <a:off x="114184" y="2716750"/>
            <a:ext cx="3533788" cy="1383587"/>
          </a:xfrm>
          <a:prstGeom prst="rect">
            <a:avLst/>
          </a:prstGeom>
        </p:spPr>
      </p:pic>
      <p:pic>
        <p:nvPicPr>
          <p:cNvPr id="8" name="Picture 7">
            <a:extLst>
              <a:ext uri="{FF2B5EF4-FFF2-40B4-BE49-F238E27FC236}">
                <a16:creationId xmlns:a16="http://schemas.microsoft.com/office/drawing/2014/main" id="{C0EF67EA-B5C0-234C-8D40-2E5003799B0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847636">
            <a:off x="5792628" y="1074842"/>
            <a:ext cx="2068338" cy="1608329"/>
          </a:xfrm>
          <a:prstGeom prst="rect">
            <a:avLst/>
          </a:prstGeom>
        </p:spPr>
      </p:pic>
      <p:sp>
        <p:nvSpPr>
          <p:cNvPr id="2" name="Title 1">
            <a:extLst>
              <a:ext uri="{FF2B5EF4-FFF2-40B4-BE49-F238E27FC236}">
                <a16:creationId xmlns:a16="http://schemas.microsoft.com/office/drawing/2014/main" id="{4D273B7D-115B-3244-A8DC-DEE85FD1DE0C}"/>
              </a:ext>
            </a:extLst>
          </p:cNvPr>
          <p:cNvSpPr>
            <a:spLocks noGrp="1"/>
          </p:cNvSpPr>
          <p:nvPr>
            <p:ph type="title" hasCustomPrompt="1"/>
          </p:nvPr>
        </p:nvSpPr>
        <p:spPr>
          <a:xfrm>
            <a:off x="3189880" y="2232234"/>
            <a:ext cx="2764241" cy="507831"/>
          </a:xfrm>
        </p:spPr>
        <p:txBody>
          <a:bodyPr/>
          <a:lstStyle>
            <a:lvl1pPr algn="ctr">
              <a:defRPr b="1"/>
            </a:lvl1pPr>
          </a:lstStyle>
          <a:p>
            <a:pPr algn="ctr"/>
            <a:r>
              <a:rPr lang="en-US" sz="3300" b="1" dirty="0">
                <a:solidFill>
                  <a:srgbClr val="0EA8FE"/>
                </a:solidFill>
                <a:latin typeface="Century Gothic" panose="020B0502020202020204" pitchFamily="34" charset="0"/>
                <a:cs typeface="Poppins" panose="00000500000000000000" pitchFamily="2" charset="0"/>
              </a:rPr>
              <a:t>Thank</a:t>
            </a:r>
            <a:r>
              <a:rPr lang="en-US" sz="3300" b="1" dirty="0">
                <a:solidFill>
                  <a:srgbClr val="5DC3E2"/>
                </a:solidFill>
                <a:latin typeface="Century Gothic" panose="020B0502020202020204" pitchFamily="34" charset="0"/>
                <a:cs typeface="Poppins" panose="00000500000000000000" pitchFamily="2" charset="0"/>
              </a:rPr>
              <a:t> </a:t>
            </a:r>
            <a:r>
              <a:rPr lang="de-DE" sz="3300" b="1" dirty="0" err="1">
                <a:solidFill>
                  <a:srgbClr val="F7941D"/>
                </a:solidFill>
                <a:latin typeface="Century Gothic" panose="020B0502020202020204" pitchFamily="34" charset="0"/>
                <a:cs typeface="Poppins" panose="00000500000000000000" pitchFamily="2" charset="0"/>
              </a:rPr>
              <a:t>You</a:t>
            </a:r>
            <a:r>
              <a:rPr lang="de-DE" sz="3300" b="1" dirty="0">
                <a:solidFill>
                  <a:srgbClr val="F7941D"/>
                </a:solidFill>
                <a:latin typeface="Century Gothic" panose="020B0502020202020204" pitchFamily="34" charset="0"/>
                <a:cs typeface="Poppins" panose="00000500000000000000" pitchFamily="2" charset="0"/>
              </a:rPr>
              <a:t>!</a:t>
            </a:r>
            <a:endParaRPr lang="en-IN" sz="3300" b="1" dirty="0">
              <a:solidFill>
                <a:srgbClr val="F7941D"/>
              </a:solidFill>
              <a:latin typeface="Century Gothic" panose="020B0502020202020204" pitchFamily="34" charset="0"/>
              <a:cs typeface="Poppins" panose="00000500000000000000" pitchFamily="2" charset="0"/>
            </a:endParaRPr>
          </a:p>
        </p:txBody>
      </p:sp>
      <p:pic>
        <p:nvPicPr>
          <p:cNvPr id="9" name="Picture 8">
            <a:extLst>
              <a:ext uri="{FF2B5EF4-FFF2-40B4-BE49-F238E27FC236}">
                <a16:creationId xmlns:a16="http://schemas.microsoft.com/office/drawing/2014/main" id="{A39C38BA-67A7-0B4D-A376-6696F709DFA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48230" y="1282300"/>
            <a:ext cx="847540" cy="847540"/>
          </a:xfrm>
          <a:prstGeom prst="rect">
            <a:avLst/>
          </a:prstGeom>
        </p:spPr>
      </p:pic>
    </p:spTree>
    <p:extLst>
      <p:ext uri="{BB962C8B-B14F-4D97-AF65-F5344CB8AC3E}">
        <p14:creationId xmlns:p14="http://schemas.microsoft.com/office/powerpoint/2010/main" val="3268958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2" cstate="print"/>
          <a:stretch>
            <a:fillRect/>
          </a:stretch>
        </p:blipFill>
        <p:spPr>
          <a:xfrm>
            <a:off x="0" y="0"/>
            <a:ext cx="9144000" cy="5143500"/>
          </a:xfrm>
          <a:prstGeom prst="rect">
            <a:avLst/>
          </a:prstGeom>
        </p:spPr>
      </p:pic>
      <p:pic>
        <p:nvPicPr>
          <p:cNvPr id="17" name="bg object 17"/>
          <p:cNvPicPr/>
          <p:nvPr/>
        </p:nvPicPr>
        <p:blipFill>
          <a:blip r:embed="rId13" cstate="print"/>
          <a:stretch>
            <a:fillRect/>
          </a:stretch>
        </p:blipFill>
        <p:spPr>
          <a:xfrm>
            <a:off x="3857688" y="4747484"/>
            <a:ext cx="1428615" cy="327344"/>
          </a:xfrm>
          <a:prstGeom prst="rect">
            <a:avLst/>
          </a:prstGeom>
        </p:spPr>
      </p:pic>
      <p:pic>
        <p:nvPicPr>
          <p:cNvPr id="18" name="bg object 18"/>
          <p:cNvPicPr/>
          <p:nvPr/>
        </p:nvPicPr>
        <p:blipFill>
          <a:blip r:embed="rId14" cstate="print"/>
          <a:stretch>
            <a:fillRect/>
          </a:stretch>
        </p:blipFill>
        <p:spPr>
          <a:xfrm>
            <a:off x="8468928" y="81789"/>
            <a:ext cx="572054" cy="572054"/>
          </a:xfrm>
          <a:prstGeom prst="rect">
            <a:avLst/>
          </a:prstGeom>
        </p:spPr>
      </p:pic>
      <p:sp>
        <p:nvSpPr>
          <p:cNvPr id="2" name="Holder 2"/>
          <p:cNvSpPr>
            <a:spLocks noGrp="1"/>
          </p:cNvSpPr>
          <p:nvPr>
            <p:ph type="title"/>
          </p:nvPr>
        </p:nvSpPr>
        <p:spPr>
          <a:xfrm>
            <a:off x="863116" y="17732"/>
            <a:ext cx="7417767" cy="985520"/>
          </a:xfrm>
          <a:prstGeom prst="rect">
            <a:avLst/>
          </a:prstGeom>
        </p:spPr>
        <p:txBody>
          <a:bodyPr wrap="square" lIns="0" tIns="0" rIns="0" bIns="0">
            <a:spAutoFit/>
          </a:bodyPr>
          <a:lstStyle>
            <a:lvl1pPr>
              <a:defRPr sz="33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310099" y="1663659"/>
            <a:ext cx="3790950" cy="1743075"/>
          </a:xfrm>
          <a:prstGeom prst="rect">
            <a:avLst/>
          </a:prstGeom>
        </p:spPr>
        <p:txBody>
          <a:bodyPr wrap="square" lIns="0" tIns="0" rIns="0" bIns="0">
            <a:spAutoFit/>
          </a:bodyPr>
          <a:lstStyle>
            <a:lvl1pPr>
              <a:defRPr sz="14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8/13/25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2" r:id="rId10"/>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8.xml"/><Relationship Id="rId5" Type="http://schemas.openxmlformats.org/officeDocument/2006/relationships/image" Target="../media/image31.jpeg"/><Relationship Id="rId4" Type="http://schemas.openxmlformats.org/officeDocument/2006/relationships/image" Target="../media/image30.jpeg"/></Relationships>
</file>

<file path=ppt/slides/_rels/slide1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6.jpeg"/><Relationship Id="rId4" Type="http://schemas.openxmlformats.org/officeDocument/2006/relationships/image" Target="../media/image3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8.xml"/><Relationship Id="rId4" Type="http://schemas.openxmlformats.org/officeDocument/2006/relationships/image" Target="../media/image39.jpeg"/></Relationships>
</file>

<file path=ppt/slides/_rels/slide1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8.xml"/><Relationship Id="rId4" Type="http://schemas.openxmlformats.org/officeDocument/2006/relationships/image" Target="../media/image42.jpeg"/></Relationships>
</file>

<file path=ppt/slides/_rels/slide1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8.xml"/><Relationship Id="rId4" Type="http://schemas.openxmlformats.org/officeDocument/2006/relationships/image" Target="../media/image45.jpeg"/></Relationships>
</file>

<file path=ppt/slides/_rels/slide2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8.xml"/><Relationship Id="rId4" Type="http://schemas.openxmlformats.org/officeDocument/2006/relationships/image" Target="../media/image4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51.jpeg"/></Relationships>
</file>

<file path=ppt/slides/_rels/slide2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8.xml"/><Relationship Id="rId5" Type="http://schemas.openxmlformats.org/officeDocument/2006/relationships/image" Target="../media/image56.jpeg"/><Relationship Id="rId4" Type="http://schemas.openxmlformats.org/officeDocument/2006/relationships/image" Target="../media/image55.jpeg"/></Relationships>
</file>

<file path=ppt/slides/_rels/slide2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1.jpeg"/></Relationships>
</file>

<file path=ppt/slides/_rels/slide3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8.xml"/><Relationship Id="rId5" Type="http://schemas.openxmlformats.org/officeDocument/2006/relationships/image" Target="../media/image66.jpeg"/><Relationship Id="rId4" Type="http://schemas.openxmlformats.org/officeDocument/2006/relationships/image" Target="../media/image65.jpeg"/></Relationships>
</file>

<file path=ppt/slides/_rels/slide3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8.xml"/><Relationship Id="rId4" Type="http://schemas.openxmlformats.org/officeDocument/2006/relationships/image" Target="../media/image69.jpeg"/></Relationships>
</file>

<file path=ppt/slides/_rels/slide35.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72.jpeg"/></Relationships>
</file>

<file path=ppt/slides/_rels/slide39.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8.xml"/><Relationship Id="rId5" Type="http://schemas.openxmlformats.org/officeDocument/2006/relationships/image" Target="../media/image77.jpeg"/><Relationship Id="rId4" Type="http://schemas.openxmlformats.org/officeDocument/2006/relationships/image" Target="../media/image76.jpeg"/></Relationships>
</file>

<file path=ppt/slides/_rels/slide4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8.xml"/><Relationship Id="rId4" Type="http://schemas.openxmlformats.org/officeDocument/2006/relationships/image" Target="../media/image81.jpeg"/></Relationships>
</file>

<file path=ppt/slides/_rels/slide4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8.xml"/><Relationship Id="rId4" Type="http://schemas.openxmlformats.org/officeDocument/2006/relationships/image" Target="../media/image84.jpeg"/></Relationships>
</file>

<file path=ppt/slides/_rels/slide44.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8.xml"/><Relationship Id="rId4" Type="http://schemas.openxmlformats.org/officeDocument/2006/relationships/image" Target="../media/image88.jpeg"/></Relationships>
</file>

<file path=ppt/slides/_rels/slide47.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94E3C6FF-A716-747D-5231-6B9C55BF60DC}"/>
              </a:ext>
            </a:extLst>
          </p:cNvPr>
          <p:cNvPicPr/>
          <p:nvPr/>
        </p:nvPicPr>
        <p:blipFill>
          <a:blip r:embed="rId2" cstate="print"/>
          <a:stretch>
            <a:fillRect/>
          </a:stretch>
        </p:blipFill>
        <p:spPr>
          <a:xfrm>
            <a:off x="3839707" y="889600"/>
            <a:ext cx="1464584" cy="1464584"/>
          </a:xfrm>
          <a:prstGeom prst="rect">
            <a:avLst/>
          </a:prstGeom>
        </p:spPr>
      </p:pic>
      <p:sp>
        <p:nvSpPr>
          <p:cNvPr id="3" name="Rectangle 2">
            <a:extLst>
              <a:ext uri="{FF2B5EF4-FFF2-40B4-BE49-F238E27FC236}">
                <a16:creationId xmlns:a16="http://schemas.microsoft.com/office/drawing/2014/main" id="{A2AD2B50-7960-D1E3-3384-58C2ADC0E698}"/>
              </a:ext>
            </a:extLst>
          </p:cNvPr>
          <p:cNvSpPr/>
          <p:nvPr/>
        </p:nvSpPr>
        <p:spPr>
          <a:xfrm>
            <a:off x="1600200" y="2419350"/>
            <a:ext cx="5943600" cy="954107"/>
          </a:xfrm>
          <a:prstGeom prst="rect">
            <a:avLst/>
          </a:prstGeom>
          <a:noFill/>
        </p:spPr>
        <p:txBody>
          <a:bodyPr wrap="square" lIns="91440" tIns="45720" rIns="91440" bIns="45720">
            <a:spAutoFit/>
          </a:bodyPr>
          <a:lstStyle/>
          <a:p>
            <a:pPr algn="ctr"/>
            <a:r>
              <a:rPr lang="en-IN" sz="2800" b="1" i="0" u="none" strike="noStrike" dirty="0">
                <a:solidFill>
                  <a:schemeClr val="bg1"/>
                </a:solidFill>
                <a:effectLst/>
                <a:latin typeface="Century Gothic" panose="020B0502020202020204" pitchFamily="34" charset="0"/>
              </a:rPr>
              <a:t>MICE Product for Oman </a:t>
            </a:r>
            <a:r>
              <a:rPr lang="en-IN" sz="2800" b="1" i="0" u="none" strike="noStrike">
                <a:solidFill>
                  <a:schemeClr val="bg1"/>
                </a:solidFill>
                <a:effectLst/>
                <a:latin typeface="Century Gothic" panose="020B0502020202020204" pitchFamily="34" charset="0"/>
              </a:rPr>
              <a:t>– II</a:t>
            </a:r>
            <a:endParaRPr lang="en-IN" sz="2800" b="1" i="0" u="none" strike="noStrike" dirty="0">
              <a:solidFill>
                <a:schemeClr val="bg1"/>
              </a:solidFill>
              <a:effectLst/>
              <a:latin typeface="Century Gothic" panose="020B0502020202020204" pitchFamily="34" charset="0"/>
            </a:endParaRPr>
          </a:p>
          <a:p>
            <a:pPr algn="ctr"/>
            <a:r>
              <a:rPr lang="en-IN" sz="2800" b="1" cap="none" spc="0" dirty="0">
                <a:ln w="0"/>
                <a:solidFill>
                  <a:schemeClr val="bg1"/>
                </a:solidFill>
                <a:latin typeface="Century Gothic" panose="020B0502020202020204" pitchFamily="34" charset="0"/>
              </a:rPr>
              <a:t>Travel Period: October to April</a:t>
            </a:r>
          </a:p>
        </p:txBody>
      </p:sp>
    </p:spTree>
    <p:extLst>
      <p:ext uri="{BB962C8B-B14F-4D97-AF65-F5344CB8AC3E}">
        <p14:creationId xmlns:p14="http://schemas.microsoft.com/office/powerpoint/2010/main" val="3187507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2">
            <a:extLst>
              <a:ext uri="{FF2B5EF4-FFF2-40B4-BE49-F238E27FC236}">
                <a16:creationId xmlns:a16="http://schemas.microsoft.com/office/drawing/2014/main" id="{BD5727AF-0CF0-7E60-5A45-CB80ED35F62C}"/>
              </a:ext>
            </a:extLst>
          </p:cNvPr>
          <p:cNvSpPr txBox="1">
            <a:spLocks/>
          </p:cNvSpPr>
          <p:nvPr/>
        </p:nvSpPr>
        <p:spPr>
          <a:xfrm>
            <a:off x="4840224" y="2724150"/>
            <a:ext cx="4295775" cy="6330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AT" sz="1800" b="1" dirty="0">
                <a:solidFill>
                  <a:schemeClr val="tx1">
                    <a:lumMod val="75000"/>
                    <a:lumOff val="25000"/>
                  </a:schemeClr>
                </a:solidFill>
                <a:latin typeface="Century Gothic" panose="020B0502020202020204" pitchFamily="34" charset="0"/>
              </a:rPr>
              <a:t>OMAN</a:t>
            </a:r>
          </a:p>
        </p:txBody>
      </p:sp>
      <p:sp>
        <p:nvSpPr>
          <p:cNvPr id="21" name="Inhaltsplatzhalter 3">
            <a:extLst>
              <a:ext uri="{FF2B5EF4-FFF2-40B4-BE49-F238E27FC236}">
                <a16:creationId xmlns:a16="http://schemas.microsoft.com/office/drawing/2014/main" id="{14B5F8F4-EC67-03A5-BCF9-7BF2F62C2DAD}"/>
              </a:ext>
            </a:extLst>
          </p:cNvPr>
          <p:cNvSpPr txBox="1">
            <a:spLocks/>
          </p:cNvSpPr>
          <p:nvPr/>
        </p:nvSpPr>
        <p:spPr>
          <a:xfrm>
            <a:off x="4531649" y="2109886"/>
            <a:ext cx="4295775" cy="1614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de-AT" sz="1200" dirty="0">
              <a:solidFill>
                <a:schemeClr val="tx1">
                  <a:lumMod val="75000"/>
                  <a:lumOff val="25000"/>
                </a:schemeClr>
              </a:solidFill>
              <a:latin typeface="Century Gothic" panose="020B0502020202020204" pitchFamily="34" charset="0"/>
            </a:endParaRPr>
          </a:p>
        </p:txBody>
      </p:sp>
      <p:sp>
        <p:nvSpPr>
          <p:cNvPr id="3" name="Rectangle 2">
            <a:extLst>
              <a:ext uri="{FF2B5EF4-FFF2-40B4-BE49-F238E27FC236}">
                <a16:creationId xmlns:a16="http://schemas.microsoft.com/office/drawing/2014/main" id="{05ED0FB0-46A4-CB76-FCBB-E20D4520D143}"/>
              </a:ext>
            </a:extLst>
          </p:cNvPr>
          <p:cNvSpPr>
            <a:spLocks noChangeArrowheads="1"/>
          </p:cNvSpPr>
          <p:nvPr/>
        </p:nvSpPr>
        <p:spPr bwMode="auto">
          <a:xfrm>
            <a:off x="4843272" y="3127933"/>
            <a:ext cx="3886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entury Gothic" panose="020B0502020202020204" pitchFamily="34" charset="0"/>
              </a:rPr>
              <a:t>Oman, a land of captivating contrasts, beckons with its rich history, breathtaking landscapes, and warm Arabian hospitality. Nestled on the southeastern coast of the Arabian Peninsula, this enchanting country offers a unique blend of ancient traditions and modern progress. </a:t>
            </a:r>
          </a:p>
        </p:txBody>
      </p:sp>
      <p:pic>
        <p:nvPicPr>
          <p:cNvPr id="1026" name="Picture 2" descr="Collage of Images. Oman stock photo. Image of collage - 36197544">
            <a:extLst>
              <a:ext uri="{FF2B5EF4-FFF2-40B4-BE49-F238E27FC236}">
                <a16:creationId xmlns:a16="http://schemas.microsoft.com/office/drawing/2014/main" id="{E0FE0A6E-8734-6569-151E-A3FE8B788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724400" cy="4706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874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9" y="-19050"/>
            <a:ext cx="9143810" cy="5143500"/>
          </a:xfrm>
          <a:prstGeom prst="rect">
            <a:avLst/>
          </a:prstGeom>
        </p:spPr>
      </p:pic>
      <p:sp>
        <p:nvSpPr>
          <p:cNvPr id="3" name="object 3"/>
          <p:cNvSpPr/>
          <p:nvPr/>
        </p:nvSpPr>
        <p:spPr>
          <a:xfrm>
            <a:off x="2645610" y="2307601"/>
            <a:ext cx="3903345" cy="528320"/>
          </a:xfrm>
          <a:custGeom>
            <a:avLst/>
            <a:gdLst/>
            <a:ahLst/>
            <a:cxnLst/>
            <a:rect l="l" t="t" r="r" b="b"/>
            <a:pathLst>
              <a:path w="3903345" h="528319">
                <a:moveTo>
                  <a:pt x="3902974" y="528296"/>
                </a:moveTo>
                <a:lnTo>
                  <a:pt x="0" y="528296"/>
                </a:lnTo>
                <a:lnTo>
                  <a:pt x="0" y="0"/>
                </a:lnTo>
                <a:lnTo>
                  <a:pt x="3902974" y="0"/>
                </a:lnTo>
                <a:lnTo>
                  <a:pt x="3902974" y="528296"/>
                </a:lnTo>
                <a:close/>
              </a:path>
            </a:pathLst>
          </a:custGeom>
          <a:solidFill>
            <a:srgbClr val="0199EE"/>
          </a:solidFill>
        </p:spPr>
        <p:txBody>
          <a:bodyPr wrap="square" lIns="0" tIns="0" rIns="0" bIns="0" rtlCol="0"/>
          <a:lstStyle/>
          <a:p>
            <a:endParaRPr/>
          </a:p>
        </p:txBody>
      </p:sp>
      <p:pic>
        <p:nvPicPr>
          <p:cNvPr id="4" name="object 4"/>
          <p:cNvPicPr/>
          <p:nvPr/>
        </p:nvPicPr>
        <p:blipFill>
          <a:blip r:embed="rId3" cstate="print"/>
          <a:stretch>
            <a:fillRect/>
          </a:stretch>
        </p:blipFill>
        <p:spPr>
          <a:xfrm>
            <a:off x="8468928" y="81789"/>
            <a:ext cx="572054" cy="572054"/>
          </a:xfrm>
          <a:prstGeom prst="rect">
            <a:avLst/>
          </a:prstGeom>
        </p:spPr>
      </p:pic>
      <p:sp>
        <p:nvSpPr>
          <p:cNvPr id="8" name="Title 7">
            <a:extLst>
              <a:ext uri="{FF2B5EF4-FFF2-40B4-BE49-F238E27FC236}">
                <a16:creationId xmlns:a16="http://schemas.microsoft.com/office/drawing/2014/main" id="{5177DD94-B8B8-98E1-1A0D-B163A4558673}"/>
              </a:ext>
            </a:extLst>
          </p:cNvPr>
          <p:cNvSpPr>
            <a:spLocks noGrp="1"/>
          </p:cNvSpPr>
          <p:nvPr>
            <p:ph type="title"/>
          </p:nvPr>
        </p:nvSpPr>
        <p:spPr>
          <a:xfrm>
            <a:off x="888398" y="2294127"/>
            <a:ext cx="7417767" cy="507831"/>
          </a:xfrm>
        </p:spPr>
        <p:txBody>
          <a:bodyPr/>
          <a:lstStyle/>
          <a:p>
            <a:pPr algn="ctr"/>
            <a:r>
              <a:rPr lang="en-US" b="1" dirty="0">
                <a:solidFill>
                  <a:schemeClr val="bg1"/>
                </a:solidFill>
                <a:latin typeface="Century Gothic" panose="020B0502020202020204" pitchFamily="34" charset="0"/>
              </a:rPr>
              <a:t>Itinerary Overview</a:t>
            </a:r>
            <a:endParaRPr lang="en-IN" b="1" dirty="0">
              <a:solidFill>
                <a:schemeClr val="bg1"/>
              </a:solidFill>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306365D-ED72-C074-3AE2-9567958A006C}"/>
              </a:ext>
            </a:extLst>
          </p:cNvPr>
          <p:cNvGraphicFramePr>
            <a:graphicFrameLocks noGrp="1"/>
          </p:cNvGraphicFramePr>
          <p:nvPr>
            <p:extLst>
              <p:ext uri="{D42A27DB-BD31-4B8C-83A1-F6EECF244321}">
                <p14:modId xmlns:p14="http://schemas.microsoft.com/office/powerpoint/2010/main" val="451068084"/>
              </p:ext>
            </p:extLst>
          </p:nvPr>
        </p:nvGraphicFramePr>
        <p:xfrm>
          <a:off x="1336811" y="852261"/>
          <a:ext cx="7048502" cy="1371600"/>
        </p:xfrm>
        <a:graphic>
          <a:graphicData uri="http://schemas.openxmlformats.org/drawingml/2006/table">
            <a:tbl>
              <a:tblPr firstRow="1" bandRow="1">
                <a:tableStyleId>{3B4B98B0-60AC-42C2-AFA5-B58CD77FA1E5}</a:tableStyleId>
              </a:tblPr>
              <a:tblGrid>
                <a:gridCol w="1333503">
                  <a:extLst>
                    <a:ext uri="{9D8B030D-6E8A-4147-A177-3AD203B41FA5}">
                      <a16:colId xmlns:a16="http://schemas.microsoft.com/office/drawing/2014/main" val="1900150643"/>
                    </a:ext>
                  </a:extLst>
                </a:gridCol>
                <a:gridCol w="5714999">
                  <a:extLst>
                    <a:ext uri="{9D8B030D-6E8A-4147-A177-3AD203B41FA5}">
                      <a16:colId xmlns:a16="http://schemas.microsoft.com/office/drawing/2014/main" val="3447506752"/>
                    </a:ext>
                  </a:extLst>
                </a:gridCol>
              </a:tblGrid>
              <a:tr h="136300">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1" u="none" strike="noStrike" kern="0" cap="none" spc="-60" normalizeH="0" baseline="0" noProof="0" dirty="0">
                          <a:ln>
                            <a:noFill/>
                          </a:ln>
                          <a:solidFill>
                            <a:sysClr val="windowText" lastClr="000000"/>
                          </a:solidFill>
                          <a:effectLst/>
                          <a:uLnTx/>
                          <a:uFillTx/>
                          <a:latin typeface="Century Gothic" panose="020B0502020202020204" pitchFamily="34" charset="0"/>
                        </a:rPr>
                        <a:t>Day</a:t>
                      </a:r>
                      <a:r>
                        <a:rPr kumimoji="0" lang="en-US" sz="1200" b="1" u="none" strike="noStrike" kern="0" cap="none" spc="-50" normalizeH="0" baseline="0" noProof="0" dirty="0">
                          <a:ln>
                            <a:noFill/>
                          </a:ln>
                          <a:solidFill>
                            <a:sysClr val="windowText" lastClr="000000"/>
                          </a:solidFill>
                          <a:effectLst/>
                          <a:uLnTx/>
                          <a:uFillTx/>
                          <a:latin typeface="Century Gothic" panose="020B0502020202020204" pitchFamily="34" charset="0"/>
                        </a:rPr>
                        <a:t> 1</a:t>
                      </a:r>
                      <a:endParaRPr kumimoji="0" lang="en-US" sz="1200" b="1" i="0" u="none" strike="noStrike" kern="0" cap="none" spc="0" normalizeH="0" baseline="0" noProof="0" dirty="0">
                        <a:ln>
                          <a:noFill/>
                        </a:ln>
                        <a:solidFill>
                          <a:sysClr val="windowText" lastClr="000000"/>
                        </a:solidFill>
                        <a:effectLst/>
                        <a:uLnTx/>
                        <a:uFillTx/>
                        <a:latin typeface="Century Gothic" panose="020B0502020202020204" pitchFamily="34" charset="0"/>
                        <a:cs typeface="Arial Black"/>
                      </a:endParaRPr>
                    </a:p>
                  </a:txBody>
                  <a:tcPr/>
                </a:tc>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IN" sz="1200" spc="-30" dirty="0">
                          <a:latin typeface="Century Gothic" panose="020B0502020202020204" pitchFamily="34" charset="0"/>
                        </a:rPr>
                        <a:t>Arrival in Muscat</a:t>
                      </a:r>
                      <a:endParaRPr lang="en-IN" sz="1200" dirty="0">
                        <a:latin typeface="Century Gothic" panose="020B0502020202020204" pitchFamily="34" charset="0"/>
                      </a:endParaRPr>
                    </a:p>
                  </a:txBody>
                  <a:tcPr/>
                </a:tc>
                <a:extLst>
                  <a:ext uri="{0D108BD9-81ED-4DB2-BD59-A6C34878D82A}">
                    <a16:rowId xmlns:a16="http://schemas.microsoft.com/office/drawing/2014/main" val="2515591956"/>
                  </a:ext>
                </a:extLst>
              </a:tr>
              <a:tr h="228600">
                <a:tc>
                  <a:txBody>
                    <a:bodyPr/>
                    <a:lstStyle/>
                    <a:p>
                      <a:endParaRPr lang="en-IN" sz="1200" dirty="0">
                        <a:latin typeface="Century Gothic" panose="020B0502020202020204" pitchFamily="34" charset="0"/>
                      </a:endParaRPr>
                    </a:p>
                  </a:txBody>
                  <a:tcPr/>
                </a:tc>
                <a:tc>
                  <a:txBody>
                    <a:bodyPr/>
                    <a:lstStyle/>
                    <a:p>
                      <a:r>
                        <a:rPr lang="en-US" sz="1200" dirty="0">
                          <a:solidFill>
                            <a:schemeClr val="tx1"/>
                          </a:solidFill>
                          <a:effectLst/>
                          <a:latin typeface="Century Gothic" panose="020B0502020202020204" pitchFamily="34" charset="0"/>
                          <a:ea typeface="+mn-ea"/>
                          <a:cs typeface="+mn-cs"/>
                        </a:rPr>
                        <a:t>Arrive at Muscat international Airport. Meet &amp; greet by our representative</a:t>
                      </a:r>
                      <a:endParaRPr lang="en-IN" sz="1200" dirty="0">
                        <a:solidFill>
                          <a:schemeClr val="tx1"/>
                        </a:solidFill>
                        <a:effectLst/>
                        <a:latin typeface="Century Gothic" panose="020B0502020202020204" pitchFamily="34" charset="0"/>
                        <a:ea typeface="+mn-ea"/>
                        <a:cs typeface="+mn-cs"/>
                      </a:endParaRPr>
                    </a:p>
                  </a:txBody>
                  <a:tcPr/>
                </a:tc>
                <a:extLst>
                  <a:ext uri="{0D108BD9-81ED-4DB2-BD59-A6C34878D82A}">
                    <a16:rowId xmlns:a16="http://schemas.microsoft.com/office/drawing/2014/main" val="3134939611"/>
                  </a:ext>
                </a:extLst>
              </a:tr>
              <a:tr h="250716">
                <a:tc>
                  <a:txBody>
                    <a:bodyPr/>
                    <a:lstStyle/>
                    <a:p>
                      <a:endParaRPr lang="en-IN" sz="120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spc="-80" dirty="0">
                          <a:latin typeface="Century Gothic" panose="020B0502020202020204" pitchFamily="34" charset="0"/>
                          <a:cs typeface="Lucida Sans Unicode"/>
                        </a:rPr>
                        <a:t>Transfer to Hotel</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938666595"/>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Sunset Dhow Cruise (Depends on flight time)</a:t>
                      </a:r>
                      <a:endParaRPr lang="en-IN" sz="1200" dirty="0">
                        <a:latin typeface="Century Gothic" panose="020B0502020202020204" pitchFamily="34" charset="0"/>
                      </a:endParaRPr>
                    </a:p>
                  </a:txBody>
                  <a:tcPr/>
                </a:tc>
                <a:extLst>
                  <a:ext uri="{0D108BD9-81ED-4DB2-BD59-A6C34878D82A}">
                    <a16:rowId xmlns:a16="http://schemas.microsoft.com/office/drawing/2014/main" val="3203121180"/>
                  </a:ext>
                </a:extLst>
              </a:tr>
              <a:tr h="219103">
                <a:tc>
                  <a:txBody>
                    <a:bodyPr/>
                    <a:lstStyle/>
                    <a:p>
                      <a:endParaRPr lang="en-IN" sz="1200" dirty="0">
                        <a:latin typeface="Century Gothic" panose="020B0502020202020204" pitchFamily="34" charset="0"/>
                      </a:endParaRPr>
                    </a:p>
                  </a:txBody>
                  <a:tcPr/>
                </a:tc>
                <a:tc>
                  <a:txBody>
                    <a:bodyPr/>
                    <a:lstStyle/>
                    <a:p>
                      <a:r>
                        <a:rPr lang="en-IN" sz="1200" dirty="0">
                          <a:latin typeface="Century Gothic" panose="020B0502020202020204" pitchFamily="34" charset="0"/>
                        </a:rPr>
                        <a:t>Dinner in Bait Al Yasmine</a:t>
                      </a:r>
                    </a:p>
                  </a:txBody>
                  <a:tcPr/>
                </a:tc>
                <a:extLst>
                  <a:ext uri="{0D108BD9-81ED-4DB2-BD59-A6C34878D82A}">
                    <a16:rowId xmlns:a16="http://schemas.microsoft.com/office/drawing/2014/main" val="2286661226"/>
                  </a:ext>
                </a:extLst>
              </a:tr>
            </a:tbl>
          </a:graphicData>
        </a:graphic>
      </p:graphicFrame>
      <p:graphicFrame>
        <p:nvGraphicFramePr>
          <p:cNvPr id="2" name="Table 1">
            <a:extLst>
              <a:ext uri="{FF2B5EF4-FFF2-40B4-BE49-F238E27FC236}">
                <a16:creationId xmlns:a16="http://schemas.microsoft.com/office/drawing/2014/main" id="{498CAD44-A663-A2C2-EF39-9959FFD21E30}"/>
              </a:ext>
            </a:extLst>
          </p:cNvPr>
          <p:cNvGraphicFramePr>
            <a:graphicFrameLocks noGrp="1"/>
          </p:cNvGraphicFramePr>
          <p:nvPr>
            <p:extLst>
              <p:ext uri="{D42A27DB-BD31-4B8C-83A1-F6EECF244321}">
                <p14:modId xmlns:p14="http://schemas.microsoft.com/office/powerpoint/2010/main" val="4121047113"/>
              </p:ext>
            </p:extLst>
          </p:nvPr>
        </p:nvGraphicFramePr>
        <p:xfrm>
          <a:off x="1333496" y="2343150"/>
          <a:ext cx="7048501" cy="2267088"/>
        </p:xfrm>
        <a:graphic>
          <a:graphicData uri="http://schemas.openxmlformats.org/drawingml/2006/table">
            <a:tbl>
              <a:tblPr firstRow="1" bandRow="1">
                <a:tableStyleId>{3B4B98B0-60AC-42C2-AFA5-B58CD77FA1E5}</a:tableStyleId>
              </a:tblPr>
              <a:tblGrid>
                <a:gridCol w="1333502">
                  <a:extLst>
                    <a:ext uri="{9D8B030D-6E8A-4147-A177-3AD203B41FA5}">
                      <a16:colId xmlns:a16="http://schemas.microsoft.com/office/drawing/2014/main" val="1900150643"/>
                    </a:ext>
                  </a:extLst>
                </a:gridCol>
                <a:gridCol w="5714999">
                  <a:extLst>
                    <a:ext uri="{9D8B030D-6E8A-4147-A177-3AD203B41FA5}">
                      <a16:colId xmlns:a16="http://schemas.microsoft.com/office/drawing/2014/main" val="3447506752"/>
                    </a:ext>
                  </a:extLst>
                </a:gridCol>
              </a:tblGrid>
              <a:tr h="248584">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1" u="none" strike="noStrike" kern="0" cap="none" spc="-60" normalizeH="0" baseline="0" noProof="0" dirty="0">
                          <a:ln>
                            <a:noFill/>
                          </a:ln>
                          <a:solidFill>
                            <a:sysClr val="windowText" lastClr="000000"/>
                          </a:solidFill>
                          <a:effectLst/>
                          <a:uLnTx/>
                          <a:uFillTx/>
                          <a:latin typeface="Century Gothic" panose="020B0502020202020204" pitchFamily="34" charset="0"/>
                        </a:rPr>
                        <a:t>Day</a:t>
                      </a:r>
                      <a:r>
                        <a:rPr kumimoji="0" lang="en-US" sz="1200" b="1" u="none" strike="noStrike" kern="0" cap="none" spc="-50" normalizeH="0" baseline="0" noProof="0" dirty="0">
                          <a:ln>
                            <a:noFill/>
                          </a:ln>
                          <a:solidFill>
                            <a:sysClr val="windowText" lastClr="000000"/>
                          </a:solidFill>
                          <a:effectLst/>
                          <a:uLnTx/>
                          <a:uFillTx/>
                          <a:latin typeface="Century Gothic" panose="020B0502020202020204" pitchFamily="34" charset="0"/>
                        </a:rPr>
                        <a:t> 2</a:t>
                      </a:r>
                      <a:endParaRPr kumimoji="0" lang="en-US" sz="1200" b="1" i="0" u="none" strike="noStrike" kern="0" cap="none" spc="0" normalizeH="0" baseline="0" noProof="0" dirty="0">
                        <a:ln>
                          <a:noFill/>
                        </a:ln>
                        <a:solidFill>
                          <a:sysClr val="windowText" lastClr="000000"/>
                        </a:solidFill>
                        <a:effectLst/>
                        <a:uLnTx/>
                        <a:uFillTx/>
                        <a:latin typeface="Century Gothic" panose="020B0502020202020204" pitchFamily="34" charset="0"/>
                        <a:cs typeface="Arial Black"/>
                      </a:endParaRPr>
                    </a:p>
                  </a:txBody>
                  <a:tcPr/>
                </a:tc>
                <a:tc>
                  <a:txBody>
                    <a:bodyPr/>
                    <a:lstStyle/>
                    <a:p>
                      <a:pPr marL="41910" indent="0">
                        <a:lnSpc>
                          <a:spcPct val="100000"/>
                        </a:lnSpc>
                        <a:spcBef>
                          <a:spcPts val="100"/>
                        </a:spcBef>
                        <a:buFont typeface="Arial MT"/>
                        <a:buNone/>
                        <a:tabLst>
                          <a:tab pos="195580" algn="l"/>
                        </a:tabLst>
                      </a:pPr>
                      <a:r>
                        <a:rPr lang="en-IN" sz="1200" spc="-10" dirty="0">
                          <a:latin typeface="Century Gothic" panose="020B0502020202020204" pitchFamily="34" charset="0"/>
                          <a:cs typeface="Lucida Sans Unicode"/>
                        </a:rPr>
                        <a:t>City Orientation of Muscat</a:t>
                      </a:r>
                      <a:endParaRPr lang="en-IN" sz="1200" dirty="0">
                        <a:latin typeface="Century Gothic" panose="020B0502020202020204" pitchFamily="34" charset="0"/>
                        <a:cs typeface="Lucida Sans Unicode"/>
                      </a:endParaRPr>
                    </a:p>
                  </a:txBody>
                  <a:tcPr/>
                </a:tc>
                <a:extLst>
                  <a:ext uri="{0D108BD9-81ED-4DB2-BD59-A6C34878D82A}">
                    <a16:rowId xmlns:a16="http://schemas.microsoft.com/office/drawing/2014/main" val="2515591956"/>
                  </a:ext>
                </a:extLst>
              </a:tr>
              <a:tr h="263207">
                <a:tc>
                  <a:txBody>
                    <a:bodyPr/>
                    <a:lstStyle/>
                    <a:p>
                      <a:endParaRPr lang="en-IN" sz="1200" dirty="0">
                        <a:latin typeface="Century Gothic" panose="020B0502020202020204" pitchFamily="34" charset="0"/>
                      </a:endParaRPr>
                    </a:p>
                  </a:txBody>
                  <a:tcPr/>
                </a:tc>
                <a:tc>
                  <a:txBody>
                    <a:bodyPr/>
                    <a:lstStyle/>
                    <a:p>
                      <a:r>
                        <a:rPr lang="en-IN" sz="1200" spc="-10" dirty="0">
                          <a:latin typeface="Century Gothic" panose="020B0502020202020204" pitchFamily="34" charset="0"/>
                          <a:cs typeface="Lucida Sans Unicode"/>
                        </a:rPr>
                        <a:t>Breakfast at the Hotel</a:t>
                      </a:r>
                      <a:endParaRPr lang="en-GB" sz="1200" dirty="0">
                        <a:latin typeface="Century Gothic" panose="020B0502020202020204" pitchFamily="34" charset="0"/>
                      </a:endParaRPr>
                    </a:p>
                  </a:txBody>
                  <a:tcPr/>
                </a:tc>
                <a:extLst>
                  <a:ext uri="{0D108BD9-81ED-4DB2-BD59-A6C34878D82A}">
                    <a16:rowId xmlns:a16="http://schemas.microsoft.com/office/drawing/2014/main" val="3134939611"/>
                  </a:ext>
                </a:extLst>
              </a:tr>
              <a:tr h="292452">
                <a:tc>
                  <a:txBody>
                    <a:bodyPr/>
                    <a:lstStyle/>
                    <a:p>
                      <a:endParaRPr lang="en-IN" sz="1200">
                        <a:latin typeface="Century Gothic" panose="020B0502020202020204" pitchFamily="34" charset="0"/>
                      </a:endParaRPr>
                    </a:p>
                  </a:txBody>
                  <a:tcPr/>
                </a:tc>
                <a:tc>
                  <a:txBody>
                    <a:bodyPr/>
                    <a:lstStyle/>
                    <a:p>
                      <a:pPr marL="41910" indent="0">
                        <a:lnSpc>
                          <a:spcPct val="100000"/>
                        </a:lnSpc>
                        <a:spcBef>
                          <a:spcPts val="690"/>
                        </a:spcBef>
                        <a:buFont typeface="Arial MT"/>
                        <a:buNone/>
                        <a:tabLst>
                          <a:tab pos="195580" algn="l"/>
                        </a:tabLst>
                      </a:pPr>
                      <a:r>
                        <a:rPr lang="en-US" sz="1200" spc="-60" dirty="0">
                          <a:latin typeface="Century Gothic" panose="020B0502020202020204" pitchFamily="34" charset="0"/>
                          <a:cs typeface="Lucida Sans Unicode"/>
                        </a:rPr>
                        <a:t>Visit the </a:t>
                      </a:r>
                      <a:r>
                        <a:rPr lang="en-IN" sz="1200" dirty="0">
                          <a:latin typeface="Century Gothic" panose="020B0502020202020204" pitchFamily="34" charset="0"/>
                        </a:rPr>
                        <a:t>Sultan Qaboos Grand Mosque</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938666595"/>
                  </a:ext>
                </a:extLst>
              </a:tr>
              <a:tr h="292452">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dirty="0">
                          <a:latin typeface="Century Gothic" panose="020B0502020202020204" pitchFamily="34" charset="0"/>
                        </a:rPr>
                        <a:t>Explore the National Museum</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3203121180"/>
                  </a:ext>
                </a:extLst>
              </a:tr>
              <a:tr h="292452">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Photo stop at Al Alam Palace, flanked by Mirani and Jalali Forts</a:t>
                      </a:r>
                      <a:endParaRPr lang="en-IN" sz="1200" dirty="0">
                        <a:latin typeface="Century Gothic" panose="020B0502020202020204" pitchFamily="34" charset="0"/>
                        <a:cs typeface="Lucida Sans Unicode"/>
                      </a:endParaRPr>
                    </a:p>
                  </a:txBody>
                  <a:tcPr/>
                </a:tc>
                <a:extLst>
                  <a:ext uri="{0D108BD9-81ED-4DB2-BD59-A6C34878D82A}">
                    <a16:rowId xmlns:a16="http://schemas.microsoft.com/office/drawing/2014/main" val="1764523459"/>
                  </a:ext>
                </a:extLst>
              </a:tr>
              <a:tr h="292452">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Drive along the Corniche and stop at </a:t>
                      </a:r>
                      <a:r>
                        <a:rPr lang="en-GB" sz="1200" dirty="0" err="1">
                          <a:latin typeface="Century Gothic" panose="020B0502020202020204" pitchFamily="34" charset="0"/>
                        </a:rPr>
                        <a:t>Muttrah</a:t>
                      </a:r>
                      <a:r>
                        <a:rPr lang="en-GB" sz="1200" dirty="0">
                          <a:latin typeface="Century Gothic" panose="020B0502020202020204" pitchFamily="34" charset="0"/>
                        </a:rPr>
                        <a:t> Souk</a:t>
                      </a:r>
                      <a:endParaRPr lang="en-IN" sz="1200" dirty="0">
                        <a:latin typeface="Century Gothic" panose="020B0502020202020204" pitchFamily="34" charset="0"/>
                        <a:cs typeface="Lucida Sans Unicode"/>
                      </a:endParaRPr>
                    </a:p>
                  </a:txBody>
                  <a:tcPr/>
                </a:tc>
                <a:extLst>
                  <a:ext uri="{0D108BD9-81ED-4DB2-BD59-A6C34878D82A}">
                    <a16:rowId xmlns:a16="http://schemas.microsoft.com/office/drawing/2014/main" val="2998021532"/>
                  </a:ext>
                </a:extLst>
              </a:tr>
              <a:tr h="248584">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Lunch at a local restaurant</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1665793238"/>
                  </a:ext>
                </a:extLst>
              </a:tr>
              <a:tr h="248584">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latin typeface="Century Gothic" panose="020B0502020202020204" pitchFamily="34" charset="0"/>
                          <a:cs typeface="Lucida Sans Unicode"/>
                        </a:rPr>
                        <a:t>Return and </a:t>
                      </a:r>
                      <a:r>
                        <a:rPr lang="en-IN" sz="1200" dirty="0">
                          <a:latin typeface="Century Gothic" panose="020B0502020202020204" pitchFamily="34" charset="0"/>
                        </a:rPr>
                        <a:t>Dinner at the hotel</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116379099"/>
                  </a:ext>
                </a:extLst>
              </a:tr>
            </a:tbl>
          </a:graphicData>
        </a:graphic>
      </p:graphicFrame>
      <p:sp>
        <p:nvSpPr>
          <p:cNvPr id="3" name="object 2">
            <a:extLst>
              <a:ext uri="{FF2B5EF4-FFF2-40B4-BE49-F238E27FC236}">
                <a16:creationId xmlns:a16="http://schemas.microsoft.com/office/drawing/2014/main" id="{43294852-64D4-45C4-A063-03AAE53F067B}"/>
              </a:ext>
            </a:extLst>
          </p:cNvPr>
          <p:cNvSpPr txBox="1">
            <a:spLocks/>
          </p:cNvSpPr>
          <p:nvPr/>
        </p:nvSpPr>
        <p:spPr>
          <a:xfrm>
            <a:off x="1148864" y="-214135"/>
            <a:ext cx="7417767" cy="843821"/>
          </a:xfrm>
          <a:prstGeom prst="rect">
            <a:avLst/>
          </a:prstGeom>
        </p:spPr>
        <p:txBody>
          <a:bodyPr vert="horz" wrap="square" lIns="0" tIns="469900" rIns="0" bIns="0" rtlCol="0">
            <a:spAutoFit/>
          </a:bodyPr>
          <a:lstStyle>
            <a:lvl1pPr>
              <a:defRPr sz="3300" b="0" i="0">
                <a:solidFill>
                  <a:schemeClr val="tx1"/>
                </a:solidFill>
                <a:latin typeface="Arial Black"/>
                <a:ea typeface="+mj-ea"/>
                <a:cs typeface="Arial Black"/>
              </a:defRPr>
            </a:lvl1pPr>
          </a:lstStyle>
          <a:p>
            <a:pPr marL="1860550">
              <a:spcBef>
                <a:spcPts val="100"/>
              </a:spcBef>
            </a:pPr>
            <a:r>
              <a:rPr lang="en-GB" sz="2400" b="1" dirty="0">
                <a:solidFill>
                  <a:schemeClr val="tx1">
                    <a:lumMod val="65000"/>
                    <a:lumOff val="35000"/>
                  </a:schemeClr>
                </a:solidFill>
                <a:latin typeface="Century Gothic" panose="020B0502020202020204" pitchFamily="34" charset="0"/>
              </a:rPr>
              <a:t>ITINERARY OVERVIEW</a:t>
            </a:r>
          </a:p>
        </p:txBody>
      </p:sp>
    </p:spTree>
    <p:extLst>
      <p:ext uri="{BB962C8B-B14F-4D97-AF65-F5344CB8AC3E}">
        <p14:creationId xmlns:p14="http://schemas.microsoft.com/office/powerpoint/2010/main" val="188764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39396-35B1-48C7-0CDC-2F089767E43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711C9E1-5742-3FAD-D3B3-2CF7CCA981D4}"/>
              </a:ext>
            </a:extLst>
          </p:cNvPr>
          <p:cNvGraphicFramePr>
            <a:graphicFrameLocks noGrp="1"/>
          </p:cNvGraphicFramePr>
          <p:nvPr>
            <p:extLst>
              <p:ext uri="{D42A27DB-BD31-4B8C-83A1-F6EECF244321}">
                <p14:modId xmlns:p14="http://schemas.microsoft.com/office/powerpoint/2010/main" val="400439899"/>
              </p:ext>
            </p:extLst>
          </p:nvPr>
        </p:nvGraphicFramePr>
        <p:xfrm>
          <a:off x="1336811" y="852261"/>
          <a:ext cx="7048502" cy="1645920"/>
        </p:xfrm>
        <a:graphic>
          <a:graphicData uri="http://schemas.openxmlformats.org/drawingml/2006/table">
            <a:tbl>
              <a:tblPr firstRow="1" bandRow="1">
                <a:tableStyleId>{3B4B98B0-60AC-42C2-AFA5-B58CD77FA1E5}</a:tableStyleId>
              </a:tblPr>
              <a:tblGrid>
                <a:gridCol w="1333503">
                  <a:extLst>
                    <a:ext uri="{9D8B030D-6E8A-4147-A177-3AD203B41FA5}">
                      <a16:colId xmlns:a16="http://schemas.microsoft.com/office/drawing/2014/main" val="1900150643"/>
                    </a:ext>
                  </a:extLst>
                </a:gridCol>
                <a:gridCol w="5714999">
                  <a:extLst>
                    <a:ext uri="{9D8B030D-6E8A-4147-A177-3AD203B41FA5}">
                      <a16:colId xmlns:a16="http://schemas.microsoft.com/office/drawing/2014/main" val="3447506752"/>
                    </a:ext>
                  </a:extLst>
                </a:gridCol>
              </a:tblGrid>
              <a:tr h="136300">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1" u="none" strike="noStrike" kern="0" cap="none" spc="-60" normalizeH="0" baseline="0" noProof="0" dirty="0">
                          <a:ln>
                            <a:noFill/>
                          </a:ln>
                          <a:solidFill>
                            <a:sysClr val="windowText" lastClr="000000"/>
                          </a:solidFill>
                          <a:effectLst/>
                          <a:uLnTx/>
                          <a:uFillTx/>
                          <a:latin typeface="Century Gothic" panose="020B0502020202020204" pitchFamily="34" charset="0"/>
                        </a:rPr>
                        <a:t>Day</a:t>
                      </a:r>
                      <a:r>
                        <a:rPr kumimoji="0" lang="en-US" sz="1200" b="1" u="none" strike="noStrike" kern="0" cap="none" spc="-50" normalizeH="0" baseline="0" noProof="0" dirty="0">
                          <a:ln>
                            <a:noFill/>
                          </a:ln>
                          <a:solidFill>
                            <a:sysClr val="windowText" lastClr="000000"/>
                          </a:solidFill>
                          <a:effectLst/>
                          <a:uLnTx/>
                          <a:uFillTx/>
                          <a:latin typeface="Century Gothic" panose="020B0502020202020204" pitchFamily="34" charset="0"/>
                        </a:rPr>
                        <a:t> 3</a:t>
                      </a:r>
                      <a:endParaRPr kumimoji="0" lang="en-US" sz="1200" b="1" i="0" u="none" strike="noStrike" kern="0" cap="none" spc="0" normalizeH="0" baseline="0" noProof="0" dirty="0">
                        <a:ln>
                          <a:noFill/>
                        </a:ln>
                        <a:solidFill>
                          <a:sysClr val="windowText" lastClr="000000"/>
                        </a:solidFill>
                        <a:effectLst/>
                        <a:uLnTx/>
                        <a:uFillTx/>
                        <a:latin typeface="Century Gothic" panose="020B0502020202020204" pitchFamily="34" charset="0"/>
                        <a:cs typeface="Arial Black"/>
                      </a:endParaRPr>
                    </a:p>
                  </a:txBody>
                  <a:tcPr/>
                </a:tc>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GB" sz="1200" dirty="0">
                          <a:latin typeface="Century Gothic" panose="020B0502020202020204" pitchFamily="34" charset="0"/>
                        </a:rPr>
                        <a:t>Drive to Nizwa with </a:t>
                      </a:r>
                      <a:r>
                        <a:rPr lang="en-GB" sz="1200" dirty="0" err="1">
                          <a:latin typeface="Century Gothic" panose="020B0502020202020204" pitchFamily="34" charset="0"/>
                        </a:rPr>
                        <a:t>en</a:t>
                      </a:r>
                      <a:r>
                        <a:rPr lang="en-GB" sz="1200" dirty="0">
                          <a:latin typeface="Century Gothic" panose="020B0502020202020204" pitchFamily="34" charset="0"/>
                        </a:rPr>
                        <a:t> route stops</a:t>
                      </a:r>
                      <a:endParaRPr lang="en-IN" sz="1200" dirty="0">
                        <a:latin typeface="Century Gothic" panose="020B0502020202020204" pitchFamily="34" charset="0"/>
                      </a:endParaRPr>
                    </a:p>
                  </a:txBody>
                  <a:tcPr/>
                </a:tc>
                <a:extLst>
                  <a:ext uri="{0D108BD9-81ED-4DB2-BD59-A6C34878D82A}">
                    <a16:rowId xmlns:a16="http://schemas.microsoft.com/office/drawing/2014/main" val="2515591956"/>
                  </a:ext>
                </a:extLst>
              </a:tr>
              <a:tr h="228600">
                <a:tc>
                  <a:txBody>
                    <a:bodyPr/>
                    <a:lstStyle/>
                    <a:p>
                      <a:endParaRPr lang="en-IN" sz="1200" dirty="0">
                        <a:latin typeface="Century Gothic" panose="020B0502020202020204" pitchFamily="34" charset="0"/>
                      </a:endParaRPr>
                    </a:p>
                  </a:txBody>
                  <a:tcPr/>
                </a:tc>
                <a:tc>
                  <a:txBody>
                    <a:bodyPr/>
                    <a:lstStyle/>
                    <a:p>
                      <a:r>
                        <a:rPr lang="en-IN" sz="1200" dirty="0">
                          <a:latin typeface="Century Gothic" panose="020B0502020202020204" pitchFamily="34" charset="0"/>
                        </a:rPr>
                        <a:t>Breakfast at the hotel</a:t>
                      </a:r>
                      <a:endParaRPr lang="en-IN" sz="1200" dirty="0">
                        <a:solidFill>
                          <a:schemeClr val="tx1"/>
                        </a:solidFill>
                        <a:effectLst/>
                        <a:latin typeface="Century Gothic" panose="020B0502020202020204" pitchFamily="34" charset="0"/>
                        <a:ea typeface="+mn-ea"/>
                        <a:cs typeface="+mn-cs"/>
                      </a:endParaRPr>
                    </a:p>
                  </a:txBody>
                  <a:tcPr/>
                </a:tc>
                <a:extLst>
                  <a:ext uri="{0D108BD9-81ED-4DB2-BD59-A6C34878D82A}">
                    <a16:rowId xmlns:a16="http://schemas.microsoft.com/office/drawing/2014/main" val="3134939611"/>
                  </a:ext>
                </a:extLst>
              </a:tr>
              <a:tr h="250716">
                <a:tc>
                  <a:txBody>
                    <a:bodyPr/>
                    <a:lstStyle/>
                    <a:p>
                      <a:endParaRPr lang="en-IN" sz="120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Visit </a:t>
                      </a:r>
                      <a:r>
                        <a:rPr lang="en-GB" sz="1200" dirty="0" err="1">
                          <a:latin typeface="Century Gothic" panose="020B0502020202020204" pitchFamily="34" charset="0"/>
                        </a:rPr>
                        <a:t>Jabreen</a:t>
                      </a:r>
                      <a:r>
                        <a:rPr lang="en-GB" sz="1200" dirty="0">
                          <a:latin typeface="Century Gothic" panose="020B0502020202020204" pitchFamily="34" charset="0"/>
                        </a:rPr>
                        <a:t> Castle with its ornate stucco &amp; ceilings</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938666595"/>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Continue to </a:t>
                      </a:r>
                      <a:r>
                        <a:rPr lang="en-GB" sz="1200" dirty="0" err="1">
                          <a:latin typeface="Century Gothic" panose="020B0502020202020204" pitchFamily="34" charset="0"/>
                        </a:rPr>
                        <a:t>Bahla</a:t>
                      </a:r>
                      <a:r>
                        <a:rPr lang="en-GB" sz="1200" dirty="0">
                          <a:latin typeface="Century Gothic" panose="020B0502020202020204" pitchFamily="34" charset="0"/>
                        </a:rPr>
                        <a:t> Fort (UNESCO site) for a quick photo stop.</a:t>
                      </a:r>
                      <a:endParaRPr lang="en-IN" sz="1200" dirty="0">
                        <a:latin typeface="Century Gothic" panose="020B0502020202020204" pitchFamily="34" charset="0"/>
                      </a:endParaRPr>
                    </a:p>
                  </a:txBody>
                  <a:tcPr/>
                </a:tc>
                <a:extLst>
                  <a:ext uri="{0D108BD9-81ED-4DB2-BD59-A6C34878D82A}">
                    <a16:rowId xmlns:a16="http://schemas.microsoft.com/office/drawing/2014/main" val="3203121180"/>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Lunch at a local restaurant</a:t>
                      </a:r>
                      <a:endParaRPr lang="en-IN" sz="1200" dirty="0">
                        <a:latin typeface="Century Gothic" panose="020B0502020202020204" pitchFamily="34" charset="0"/>
                      </a:endParaRPr>
                    </a:p>
                  </a:txBody>
                  <a:tcPr/>
                </a:tc>
                <a:extLst>
                  <a:ext uri="{0D108BD9-81ED-4DB2-BD59-A6C34878D82A}">
                    <a16:rowId xmlns:a16="http://schemas.microsoft.com/office/drawing/2014/main" val="2286661226"/>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Arrival in Nizwa and check in and dinner at your hotel</a:t>
                      </a:r>
                      <a:endParaRPr lang="en-IN" sz="1200" dirty="0">
                        <a:latin typeface="Century Gothic" panose="020B0502020202020204" pitchFamily="34" charset="0"/>
                      </a:endParaRPr>
                    </a:p>
                  </a:txBody>
                  <a:tcPr/>
                </a:tc>
                <a:extLst>
                  <a:ext uri="{0D108BD9-81ED-4DB2-BD59-A6C34878D82A}">
                    <a16:rowId xmlns:a16="http://schemas.microsoft.com/office/drawing/2014/main" val="4109267346"/>
                  </a:ext>
                </a:extLst>
              </a:tr>
            </a:tbl>
          </a:graphicData>
        </a:graphic>
      </p:graphicFrame>
      <p:graphicFrame>
        <p:nvGraphicFramePr>
          <p:cNvPr id="2" name="Table 1">
            <a:extLst>
              <a:ext uri="{FF2B5EF4-FFF2-40B4-BE49-F238E27FC236}">
                <a16:creationId xmlns:a16="http://schemas.microsoft.com/office/drawing/2014/main" id="{A3728EEB-29E8-4C1A-5445-21B2C4A59BC7}"/>
              </a:ext>
            </a:extLst>
          </p:cNvPr>
          <p:cNvGraphicFramePr>
            <a:graphicFrameLocks noGrp="1"/>
          </p:cNvGraphicFramePr>
          <p:nvPr>
            <p:extLst>
              <p:ext uri="{D42A27DB-BD31-4B8C-83A1-F6EECF244321}">
                <p14:modId xmlns:p14="http://schemas.microsoft.com/office/powerpoint/2010/main" val="3874680494"/>
              </p:ext>
            </p:extLst>
          </p:nvPr>
        </p:nvGraphicFramePr>
        <p:xfrm>
          <a:off x="1333496" y="2870671"/>
          <a:ext cx="7048501" cy="1718448"/>
        </p:xfrm>
        <a:graphic>
          <a:graphicData uri="http://schemas.openxmlformats.org/drawingml/2006/table">
            <a:tbl>
              <a:tblPr firstRow="1" bandRow="1">
                <a:tableStyleId>{3B4B98B0-60AC-42C2-AFA5-B58CD77FA1E5}</a:tableStyleId>
              </a:tblPr>
              <a:tblGrid>
                <a:gridCol w="1333502">
                  <a:extLst>
                    <a:ext uri="{9D8B030D-6E8A-4147-A177-3AD203B41FA5}">
                      <a16:colId xmlns:a16="http://schemas.microsoft.com/office/drawing/2014/main" val="1900150643"/>
                    </a:ext>
                  </a:extLst>
                </a:gridCol>
                <a:gridCol w="5714999">
                  <a:extLst>
                    <a:ext uri="{9D8B030D-6E8A-4147-A177-3AD203B41FA5}">
                      <a16:colId xmlns:a16="http://schemas.microsoft.com/office/drawing/2014/main" val="3447506752"/>
                    </a:ext>
                  </a:extLst>
                </a:gridCol>
              </a:tblGrid>
              <a:tr h="248584">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1" u="none" strike="noStrike" kern="0" cap="none" spc="-60" normalizeH="0" baseline="0" noProof="0" dirty="0">
                          <a:ln>
                            <a:noFill/>
                          </a:ln>
                          <a:solidFill>
                            <a:sysClr val="windowText" lastClr="000000"/>
                          </a:solidFill>
                          <a:effectLst/>
                          <a:uLnTx/>
                          <a:uFillTx/>
                          <a:latin typeface="Century Gothic" panose="020B0502020202020204" pitchFamily="34" charset="0"/>
                        </a:rPr>
                        <a:t>Day</a:t>
                      </a:r>
                      <a:r>
                        <a:rPr kumimoji="0" lang="en-US" sz="1200" b="1" u="none" strike="noStrike" kern="0" cap="none" spc="-50" normalizeH="0" baseline="0" noProof="0" dirty="0">
                          <a:ln>
                            <a:noFill/>
                          </a:ln>
                          <a:solidFill>
                            <a:sysClr val="windowText" lastClr="000000"/>
                          </a:solidFill>
                          <a:effectLst/>
                          <a:uLnTx/>
                          <a:uFillTx/>
                          <a:latin typeface="Century Gothic" panose="020B0502020202020204" pitchFamily="34" charset="0"/>
                        </a:rPr>
                        <a:t> 4</a:t>
                      </a:r>
                      <a:endParaRPr kumimoji="0" lang="en-US" sz="1200" b="1" i="0" u="none" strike="noStrike" kern="0" cap="none" spc="0" normalizeH="0" baseline="0" noProof="0" dirty="0">
                        <a:ln>
                          <a:noFill/>
                        </a:ln>
                        <a:solidFill>
                          <a:sysClr val="windowText" lastClr="000000"/>
                        </a:solidFill>
                        <a:effectLst/>
                        <a:uLnTx/>
                        <a:uFillTx/>
                        <a:latin typeface="Century Gothic" panose="020B0502020202020204" pitchFamily="34" charset="0"/>
                        <a:cs typeface="Arial Black"/>
                      </a:endParaRPr>
                    </a:p>
                  </a:txBody>
                  <a:tcPr/>
                </a:tc>
                <a:tc>
                  <a:txBody>
                    <a:bodyPr/>
                    <a:lstStyle/>
                    <a:p>
                      <a:pPr marL="41910" indent="0">
                        <a:lnSpc>
                          <a:spcPct val="100000"/>
                        </a:lnSpc>
                        <a:spcBef>
                          <a:spcPts val="100"/>
                        </a:spcBef>
                        <a:buFont typeface="Arial MT"/>
                        <a:buNone/>
                        <a:tabLst>
                          <a:tab pos="195580" algn="l"/>
                        </a:tabLst>
                      </a:pPr>
                      <a:r>
                        <a:rPr lang="en-IN" sz="1200" spc="-10" dirty="0">
                          <a:latin typeface="Century Gothic" panose="020B0502020202020204" pitchFamily="34" charset="0"/>
                          <a:cs typeface="Lucida Sans Unicode"/>
                        </a:rPr>
                        <a:t>Drive to Jebel Akhdar</a:t>
                      </a:r>
                      <a:endParaRPr lang="en-IN" sz="1200" dirty="0">
                        <a:latin typeface="Century Gothic" panose="020B0502020202020204" pitchFamily="34" charset="0"/>
                        <a:cs typeface="Lucida Sans Unicode"/>
                      </a:endParaRPr>
                    </a:p>
                  </a:txBody>
                  <a:tcPr/>
                </a:tc>
                <a:extLst>
                  <a:ext uri="{0D108BD9-81ED-4DB2-BD59-A6C34878D82A}">
                    <a16:rowId xmlns:a16="http://schemas.microsoft.com/office/drawing/2014/main" val="2515591956"/>
                  </a:ext>
                </a:extLst>
              </a:tr>
              <a:tr h="263207">
                <a:tc>
                  <a:txBody>
                    <a:bodyPr/>
                    <a:lstStyle/>
                    <a:p>
                      <a:endParaRPr lang="en-IN" sz="1200" dirty="0">
                        <a:latin typeface="Century Gothic" panose="020B0502020202020204" pitchFamily="34" charset="0"/>
                      </a:endParaRPr>
                    </a:p>
                  </a:txBody>
                  <a:tcPr/>
                </a:tc>
                <a:tc>
                  <a:txBody>
                    <a:bodyPr/>
                    <a:lstStyle/>
                    <a:p>
                      <a:r>
                        <a:rPr lang="en-IN" sz="1200" spc="-10" dirty="0">
                          <a:latin typeface="Century Gothic" panose="020B0502020202020204" pitchFamily="34" charset="0"/>
                          <a:cs typeface="Lucida Sans Unicode"/>
                        </a:rPr>
                        <a:t>Breakfast at the Hotel</a:t>
                      </a:r>
                      <a:endParaRPr lang="en-GB" sz="1200" dirty="0">
                        <a:latin typeface="Century Gothic" panose="020B0502020202020204" pitchFamily="34" charset="0"/>
                      </a:endParaRPr>
                    </a:p>
                  </a:txBody>
                  <a:tcPr/>
                </a:tc>
                <a:extLst>
                  <a:ext uri="{0D108BD9-81ED-4DB2-BD59-A6C34878D82A}">
                    <a16:rowId xmlns:a16="http://schemas.microsoft.com/office/drawing/2014/main" val="3134939611"/>
                  </a:ext>
                </a:extLst>
              </a:tr>
              <a:tr h="292452">
                <a:tc>
                  <a:txBody>
                    <a:bodyPr/>
                    <a:lstStyle/>
                    <a:p>
                      <a:endParaRPr lang="en-IN" sz="1200">
                        <a:latin typeface="Century Gothic" panose="020B0502020202020204" pitchFamily="34" charset="0"/>
                      </a:endParaRPr>
                    </a:p>
                  </a:txBody>
                  <a:tcPr/>
                </a:tc>
                <a:tc>
                  <a:txBody>
                    <a:bodyPr/>
                    <a:lstStyle/>
                    <a:p>
                      <a:pPr marL="41910" indent="0">
                        <a:lnSpc>
                          <a:spcPct val="100000"/>
                        </a:lnSpc>
                        <a:spcBef>
                          <a:spcPts val="690"/>
                        </a:spcBef>
                        <a:buFont typeface="Arial MT"/>
                        <a:buNone/>
                        <a:tabLst>
                          <a:tab pos="195580" algn="l"/>
                        </a:tabLst>
                      </a:pPr>
                      <a:r>
                        <a:rPr lang="fr-FR" sz="1200" dirty="0" err="1">
                          <a:latin typeface="Century Gothic" panose="020B0502020202020204" pitchFamily="34" charset="0"/>
                        </a:rPr>
                        <a:t>Visit</a:t>
                      </a:r>
                      <a:r>
                        <a:rPr lang="fr-FR" sz="1200" dirty="0">
                          <a:latin typeface="Century Gothic" panose="020B0502020202020204" pitchFamily="34" charset="0"/>
                        </a:rPr>
                        <a:t> </a:t>
                      </a:r>
                      <a:r>
                        <a:rPr lang="fr-FR" sz="1200" dirty="0" err="1">
                          <a:latin typeface="Century Gothic" panose="020B0502020202020204" pitchFamily="34" charset="0"/>
                        </a:rPr>
                        <a:t>Nizwa</a:t>
                      </a:r>
                      <a:r>
                        <a:rPr lang="fr-FR" sz="1200" dirty="0">
                          <a:latin typeface="Century Gothic" panose="020B0502020202020204" pitchFamily="34" charset="0"/>
                        </a:rPr>
                        <a:t> Fort &amp; traditional souk</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938666595"/>
                  </a:ext>
                </a:extLst>
              </a:tr>
              <a:tr h="292452">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Lunch at a local restaurant</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3203121180"/>
                  </a:ext>
                </a:extLst>
              </a:tr>
              <a:tr h="292452">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Continue your drive towards Jebel Akhdar</a:t>
                      </a:r>
                      <a:endParaRPr lang="en-IN" sz="1200" dirty="0">
                        <a:latin typeface="Century Gothic" panose="020B0502020202020204" pitchFamily="34" charset="0"/>
                        <a:cs typeface="Lucida Sans Unicode"/>
                      </a:endParaRPr>
                    </a:p>
                  </a:txBody>
                  <a:tcPr/>
                </a:tc>
                <a:extLst>
                  <a:ext uri="{0D108BD9-81ED-4DB2-BD59-A6C34878D82A}">
                    <a16:rowId xmlns:a16="http://schemas.microsoft.com/office/drawing/2014/main" val="1764523459"/>
                  </a:ext>
                </a:extLst>
              </a:tr>
              <a:tr h="292452">
                <a:tc>
                  <a:txBody>
                    <a:bodyPr/>
                    <a:lstStyle/>
                    <a:p>
                      <a:endParaRPr lang="en-IN" sz="120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Check-In and dinner at the Hotel</a:t>
                      </a:r>
                      <a:endParaRPr lang="en-IN" sz="1200" dirty="0">
                        <a:latin typeface="Century Gothic" panose="020B0502020202020204" pitchFamily="34" charset="0"/>
                        <a:cs typeface="Lucida Sans Unicode"/>
                      </a:endParaRPr>
                    </a:p>
                  </a:txBody>
                  <a:tcPr/>
                </a:tc>
                <a:extLst>
                  <a:ext uri="{0D108BD9-81ED-4DB2-BD59-A6C34878D82A}">
                    <a16:rowId xmlns:a16="http://schemas.microsoft.com/office/drawing/2014/main" val="2998021532"/>
                  </a:ext>
                </a:extLst>
              </a:tr>
            </a:tbl>
          </a:graphicData>
        </a:graphic>
      </p:graphicFrame>
      <p:sp>
        <p:nvSpPr>
          <p:cNvPr id="3" name="object 2">
            <a:extLst>
              <a:ext uri="{FF2B5EF4-FFF2-40B4-BE49-F238E27FC236}">
                <a16:creationId xmlns:a16="http://schemas.microsoft.com/office/drawing/2014/main" id="{88D27D11-4049-628A-6406-2F3CEFB4D383}"/>
              </a:ext>
            </a:extLst>
          </p:cNvPr>
          <p:cNvSpPr txBox="1">
            <a:spLocks/>
          </p:cNvSpPr>
          <p:nvPr/>
        </p:nvSpPr>
        <p:spPr>
          <a:xfrm>
            <a:off x="1148864" y="-214135"/>
            <a:ext cx="7417767" cy="843821"/>
          </a:xfrm>
          <a:prstGeom prst="rect">
            <a:avLst/>
          </a:prstGeom>
        </p:spPr>
        <p:txBody>
          <a:bodyPr vert="horz" wrap="square" lIns="0" tIns="469900" rIns="0" bIns="0" rtlCol="0">
            <a:spAutoFit/>
          </a:bodyPr>
          <a:lstStyle>
            <a:lvl1pPr>
              <a:defRPr sz="3300" b="0" i="0">
                <a:solidFill>
                  <a:schemeClr val="tx1"/>
                </a:solidFill>
                <a:latin typeface="Arial Black"/>
                <a:ea typeface="+mj-ea"/>
                <a:cs typeface="Arial Black"/>
              </a:defRPr>
            </a:lvl1pPr>
          </a:lstStyle>
          <a:p>
            <a:pPr marL="1860550">
              <a:spcBef>
                <a:spcPts val="100"/>
              </a:spcBef>
            </a:pPr>
            <a:r>
              <a:rPr lang="en-GB" sz="2400" b="1" dirty="0">
                <a:solidFill>
                  <a:schemeClr val="tx1">
                    <a:lumMod val="65000"/>
                    <a:lumOff val="35000"/>
                  </a:schemeClr>
                </a:solidFill>
                <a:latin typeface="Century Gothic" panose="020B0502020202020204" pitchFamily="34" charset="0"/>
              </a:rPr>
              <a:t>ITINERARY OVERVIEW</a:t>
            </a:r>
          </a:p>
        </p:txBody>
      </p:sp>
    </p:spTree>
    <p:extLst>
      <p:ext uri="{BB962C8B-B14F-4D97-AF65-F5344CB8AC3E}">
        <p14:creationId xmlns:p14="http://schemas.microsoft.com/office/powerpoint/2010/main" val="3650916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88D3-BE97-5124-F50B-E18CAAAACE0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23C2ECC-9E51-6DC4-17D4-28714484EEB9}"/>
              </a:ext>
            </a:extLst>
          </p:cNvPr>
          <p:cNvGraphicFramePr>
            <a:graphicFrameLocks noGrp="1"/>
          </p:cNvGraphicFramePr>
          <p:nvPr>
            <p:extLst>
              <p:ext uri="{D42A27DB-BD31-4B8C-83A1-F6EECF244321}">
                <p14:modId xmlns:p14="http://schemas.microsoft.com/office/powerpoint/2010/main" val="2854912778"/>
              </p:ext>
            </p:extLst>
          </p:nvPr>
        </p:nvGraphicFramePr>
        <p:xfrm>
          <a:off x="1333495" y="1383030"/>
          <a:ext cx="7048502" cy="2194560"/>
        </p:xfrm>
        <a:graphic>
          <a:graphicData uri="http://schemas.openxmlformats.org/drawingml/2006/table">
            <a:tbl>
              <a:tblPr firstRow="1" bandRow="1">
                <a:tableStyleId>{3B4B98B0-60AC-42C2-AFA5-B58CD77FA1E5}</a:tableStyleId>
              </a:tblPr>
              <a:tblGrid>
                <a:gridCol w="1333503">
                  <a:extLst>
                    <a:ext uri="{9D8B030D-6E8A-4147-A177-3AD203B41FA5}">
                      <a16:colId xmlns:a16="http://schemas.microsoft.com/office/drawing/2014/main" val="1900150643"/>
                    </a:ext>
                  </a:extLst>
                </a:gridCol>
                <a:gridCol w="5714999">
                  <a:extLst>
                    <a:ext uri="{9D8B030D-6E8A-4147-A177-3AD203B41FA5}">
                      <a16:colId xmlns:a16="http://schemas.microsoft.com/office/drawing/2014/main" val="3447506752"/>
                    </a:ext>
                  </a:extLst>
                </a:gridCol>
              </a:tblGrid>
              <a:tr h="136300">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1" u="none" strike="noStrike" kern="0" cap="none" spc="-60" normalizeH="0" baseline="0" noProof="0" dirty="0">
                          <a:ln>
                            <a:noFill/>
                          </a:ln>
                          <a:solidFill>
                            <a:sysClr val="windowText" lastClr="000000"/>
                          </a:solidFill>
                          <a:effectLst/>
                          <a:uLnTx/>
                          <a:uFillTx/>
                          <a:latin typeface="Century Gothic" panose="020B0502020202020204" pitchFamily="34" charset="0"/>
                        </a:rPr>
                        <a:t>Day</a:t>
                      </a:r>
                      <a:r>
                        <a:rPr kumimoji="0" lang="en-US" sz="1200" b="1" u="none" strike="noStrike" kern="0" cap="none" spc="-50" normalizeH="0" baseline="0" noProof="0" dirty="0">
                          <a:ln>
                            <a:noFill/>
                          </a:ln>
                          <a:solidFill>
                            <a:sysClr val="windowText" lastClr="000000"/>
                          </a:solidFill>
                          <a:effectLst/>
                          <a:uLnTx/>
                          <a:uFillTx/>
                          <a:latin typeface="Century Gothic" panose="020B0502020202020204" pitchFamily="34" charset="0"/>
                        </a:rPr>
                        <a:t> 5</a:t>
                      </a:r>
                      <a:endParaRPr kumimoji="0" lang="en-US" sz="1200" b="1" i="0" u="none" strike="noStrike" kern="0" cap="none" spc="0" normalizeH="0" baseline="0" noProof="0" dirty="0">
                        <a:ln>
                          <a:noFill/>
                        </a:ln>
                        <a:solidFill>
                          <a:sysClr val="windowText" lastClr="000000"/>
                        </a:solidFill>
                        <a:effectLst/>
                        <a:uLnTx/>
                        <a:uFillTx/>
                        <a:latin typeface="Century Gothic" panose="020B0502020202020204" pitchFamily="34" charset="0"/>
                        <a:cs typeface="Arial Black"/>
                      </a:endParaRPr>
                    </a:p>
                  </a:txBody>
                  <a:tcPr/>
                </a:tc>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GB" sz="1200" dirty="0">
                          <a:latin typeface="Century Gothic" panose="020B0502020202020204" pitchFamily="34" charset="0"/>
                        </a:rPr>
                        <a:t>Drive to Wahiba Sands</a:t>
                      </a:r>
                      <a:endParaRPr lang="en-IN" sz="1200" dirty="0">
                        <a:latin typeface="Century Gothic" panose="020B0502020202020204" pitchFamily="34" charset="0"/>
                      </a:endParaRPr>
                    </a:p>
                  </a:txBody>
                  <a:tcPr/>
                </a:tc>
                <a:extLst>
                  <a:ext uri="{0D108BD9-81ED-4DB2-BD59-A6C34878D82A}">
                    <a16:rowId xmlns:a16="http://schemas.microsoft.com/office/drawing/2014/main" val="2515591956"/>
                  </a:ext>
                </a:extLst>
              </a:tr>
              <a:tr h="228600">
                <a:tc>
                  <a:txBody>
                    <a:bodyPr/>
                    <a:lstStyle/>
                    <a:p>
                      <a:endParaRPr lang="en-IN" sz="1200" dirty="0">
                        <a:latin typeface="Century Gothic" panose="020B0502020202020204" pitchFamily="34" charset="0"/>
                      </a:endParaRPr>
                    </a:p>
                  </a:txBody>
                  <a:tcPr/>
                </a:tc>
                <a:tc>
                  <a:txBody>
                    <a:bodyPr/>
                    <a:lstStyle/>
                    <a:p>
                      <a:r>
                        <a:rPr lang="en-IN" sz="1200" dirty="0">
                          <a:latin typeface="Century Gothic" panose="020B0502020202020204" pitchFamily="34" charset="0"/>
                        </a:rPr>
                        <a:t>Breakfast at the hotel</a:t>
                      </a:r>
                      <a:endParaRPr lang="en-IN" sz="1200" dirty="0">
                        <a:solidFill>
                          <a:schemeClr val="tx1"/>
                        </a:solidFill>
                        <a:effectLst/>
                        <a:latin typeface="Century Gothic" panose="020B0502020202020204" pitchFamily="34" charset="0"/>
                        <a:ea typeface="+mn-ea"/>
                        <a:cs typeface="+mn-cs"/>
                      </a:endParaRPr>
                    </a:p>
                  </a:txBody>
                  <a:tcPr/>
                </a:tc>
                <a:extLst>
                  <a:ext uri="{0D108BD9-81ED-4DB2-BD59-A6C34878D82A}">
                    <a16:rowId xmlns:a16="http://schemas.microsoft.com/office/drawing/2014/main" val="3134939611"/>
                  </a:ext>
                </a:extLst>
              </a:tr>
              <a:tr h="250716">
                <a:tc>
                  <a:txBody>
                    <a:bodyPr/>
                    <a:lstStyle/>
                    <a:p>
                      <a:endParaRPr lang="en-IN" sz="120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200" dirty="0">
                          <a:latin typeface="Century Gothic" panose="020B0502020202020204" pitchFamily="34" charset="0"/>
                        </a:rPr>
                        <a:t>Start your drive towards Wahiba Sands</a:t>
                      </a:r>
                      <a:endParaRPr lang="en-US" sz="1200" dirty="0">
                        <a:latin typeface="Century Gothic" panose="020B0502020202020204" pitchFamily="34" charset="0"/>
                        <a:cs typeface="Lucida Sans Unicode"/>
                      </a:endParaRPr>
                    </a:p>
                  </a:txBody>
                  <a:tcPr/>
                </a:tc>
                <a:extLst>
                  <a:ext uri="{0D108BD9-81ED-4DB2-BD59-A6C34878D82A}">
                    <a16:rowId xmlns:a16="http://schemas.microsoft.com/office/drawing/2014/main" val="938666595"/>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Visit Oman Across Ages Museum on the way.</a:t>
                      </a:r>
                      <a:endParaRPr lang="en-IN" sz="1200" dirty="0">
                        <a:latin typeface="Century Gothic" panose="020B0502020202020204" pitchFamily="34" charset="0"/>
                      </a:endParaRPr>
                    </a:p>
                  </a:txBody>
                  <a:tcPr/>
                </a:tc>
                <a:extLst>
                  <a:ext uri="{0D108BD9-81ED-4DB2-BD59-A6C34878D82A}">
                    <a16:rowId xmlns:a16="http://schemas.microsoft.com/office/drawing/2014/main" val="3203121180"/>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Lunch at a local restaurant</a:t>
                      </a:r>
                      <a:endParaRPr lang="en-IN" sz="1200" dirty="0">
                        <a:latin typeface="Century Gothic" panose="020B0502020202020204" pitchFamily="34" charset="0"/>
                      </a:endParaRPr>
                    </a:p>
                  </a:txBody>
                  <a:tcPr/>
                </a:tc>
                <a:extLst>
                  <a:ext uri="{0D108BD9-81ED-4DB2-BD59-A6C34878D82A}">
                    <a16:rowId xmlns:a16="http://schemas.microsoft.com/office/drawing/2014/main" val="2286661226"/>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Drive to Wahiba Sands and enjoy a 4x4 desert safari</a:t>
                      </a:r>
                      <a:endParaRPr lang="en-IN" sz="1200" dirty="0">
                        <a:latin typeface="Century Gothic" panose="020B0502020202020204" pitchFamily="34" charset="0"/>
                      </a:endParaRPr>
                    </a:p>
                  </a:txBody>
                  <a:tcPr/>
                </a:tc>
                <a:extLst>
                  <a:ext uri="{0D108BD9-81ED-4DB2-BD59-A6C34878D82A}">
                    <a16:rowId xmlns:a16="http://schemas.microsoft.com/office/drawing/2014/main" val="4109267346"/>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Watch sunset over sand dunes</a:t>
                      </a:r>
                      <a:endParaRPr lang="en-IN" sz="1200" dirty="0">
                        <a:latin typeface="Century Gothic" panose="020B0502020202020204" pitchFamily="34" charset="0"/>
                      </a:endParaRPr>
                    </a:p>
                  </a:txBody>
                  <a:tcPr/>
                </a:tc>
                <a:extLst>
                  <a:ext uri="{0D108BD9-81ED-4DB2-BD59-A6C34878D82A}">
                    <a16:rowId xmlns:a16="http://schemas.microsoft.com/office/drawing/2014/main" val="2191355833"/>
                  </a:ext>
                </a:extLst>
              </a:tr>
              <a:tr h="219103">
                <a:tc>
                  <a:txBody>
                    <a:bodyPr/>
                    <a:lstStyle/>
                    <a:p>
                      <a:endParaRPr lang="en-IN" sz="1200" dirty="0">
                        <a:latin typeface="Century Gothic" panose="020B0502020202020204" pitchFamily="34" charset="0"/>
                      </a:endParaRPr>
                    </a:p>
                  </a:txBody>
                  <a:tcPr/>
                </a:tc>
                <a:tc>
                  <a:txBody>
                    <a:bodyPr/>
                    <a:lstStyle/>
                    <a:p>
                      <a:r>
                        <a:rPr lang="en-GB" sz="1200" dirty="0">
                          <a:latin typeface="Century Gothic" panose="020B0502020202020204" pitchFamily="34" charset="0"/>
                        </a:rPr>
                        <a:t>Check-in at your camp post reaching and Farewell dinner at the camp</a:t>
                      </a:r>
                      <a:endParaRPr lang="en-IN" sz="1200" dirty="0">
                        <a:latin typeface="Century Gothic" panose="020B0502020202020204" pitchFamily="34" charset="0"/>
                      </a:endParaRPr>
                    </a:p>
                  </a:txBody>
                  <a:tcPr/>
                </a:tc>
                <a:extLst>
                  <a:ext uri="{0D108BD9-81ED-4DB2-BD59-A6C34878D82A}">
                    <a16:rowId xmlns:a16="http://schemas.microsoft.com/office/drawing/2014/main" val="3438183365"/>
                  </a:ext>
                </a:extLst>
              </a:tr>
            </a:tbl>
          </a:graphicData>
        </a:graphic>
      </p:graphicFrame>
      <p:sp>
        <p:nvSpPr>
          <p:cNvPr id="3" name="object 2">
            <a:extLst>
              <a:ext uri="{FF2B5EF4-FFF2-40B4-BE49-F238E27FC236}">
                <a16:creationId xmlns:a16="http://schemas.microsoft.com/office/drawing/2014/main" id="{B1CFF894-536C-35CA-BEDD-C9762B1F3891}"/>
              </a:ext>
            </a:extLst>
          </p:cNvPr>
          <p:cNvSpPr txBox="1">
            <a:spLocks/>
          </p:cNvSpPr>
          <p:nvPr/>
        </p:nvSpPr>
        <p:spPr>
          <a:xfrm>
            <a:off x="1148863" y="-214135"/>
            <a:ext cx="7417767" cy="843821"/>
          </a:xfrm>
          <a:prstGeom prst="rect">
            <a:avLst/>
          </a:prstGeom>
        </p:spPr>
        <p:txBody>
          <a:bodyPr vert="horz" wrap="square" lIns="0" tIns="469900" rIns="0" bIns="0" rtlCol="0">
            <a:spAutoFit/>
          </a:bodyPr>
          <a:lstStyle>
            <a:lvl1pPr>
              <a:defRPr sz="3300" b="0" i="0">
                <a:solidFill>
                  <a:schemeClr val="tx1"/>
                </a:solidFill>
                <a:latin typeface="Arial Black"/>
                <a:ea typeface="+mj-ea"/>
                <a:cs typeface="Arial Black"/>
              </a:defRPr>
            </a:lvl1pPr>
          </a:lstStyle>
          <a:p>
            <a:pPr marL="1860550">
              <a:spcBef>
                <a:spcPts val="100"/>
              </a:spcBef>
            </a:pPr>
            <a:r>
              <a:rPr lang="en-GB" sz="2400" b="1" dirty="0">
                <a:solidFill>
                  <a:schemeClr val="tx1">
                    <a:lumMod val="65000"/>
                    <a:lumOff val="35000"/>
                  </a:schemeClr>
                </a:solidFill>
                <a:latin typeface="Century Gothic" panose="020B0502020202020204" pitchFamily="34" charset="0"/>
              </a:rPr>
              <a:t>ITINERARY OVERVIEW</a:t>
            </a:r>
          </a:p>
        </p:txBody>
      </p:sp>
    </p:spTree>
    <p:extLst>
      <p:ext uri="{BB962C8B-B14F-4D97-AF65-F5344CB8AC3E}">
        <p14:creationId xmlns:p14="http://schemas.microsoft.com/office/powerpoint/2010/main" val="3310071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A3787-248E-5CEC-2192-430E04F9149A}"/>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DD135C25-D09E-87B4-6F2B-D818D480E015}"/>
              </a:ext>
            </a:extLst>
          </p:cNvPr>
          <p:cNvSpPr txBox="1">
            <a:spLocks/>
          </p:cNvSpPr>
          <p:nvPr/>
        </p:nvSpPr>
        <p:spPr>
          <a:xfrm>
            <a:off x="1148864" y="-214135"/>
            <a:ext cx="7417767" cy="843821"/>
          </a:xfrm>
          <a:prstGeom prst="rect">
            <a:avLst/>
          </a:prstGeom>
        </p:spPr>
        <p:txBody>
          <a:bodyPr vert="horz" wrap="square" lIns="0" tIns="469900" rIns="0" bIns="0" rtlCol="0">
            <a:spAutoFit/>
          </a:bodyPr>
          <a:lstStyle>
            <a:lvl1pPr>
              <a:defRPr sz="3300" b="0" i="0">
                <a:solidFill>
                  <a:schemeClr val="tx1"/>
                </a:solidFill>
                <a:latin typeface="Arial Black"/>
                <a:ea typeface="+mj-ea"/>
                <a:cs typeface="Arial Black"/>
              </a:defRPr>
            </a:lvl1pPr>
          </a:lstStyle>
          <a:p>
            <a:pPr marL="1860550">
              <a:spcBef>
                <a:spcPts val="100"/>
              </a:spcBef>
            </a:pPr>
            <a:r>
              <a:rPr lang="en-GB" sz="2400" b="1" dirty="0">
                <a:solidFill>
                  <a:schemeClr val="tx1">
                    <a:lumMod val="65000"/>
                    <a:lumOff val="35000"/>
                  </a:schemeClr>
                </a:solidFill>
                <a:latin typeface="Century Gothic" panose="020B0502020202020204" pitchFamily="34" charset="0"/>
              </a:rPr>
              <a:t>ITINERARY OVERVIEW</a:t>
            </a:r>
          </a:p>
        </p:txBody>
      </p:sp>
      <p:graphicFrame>
        <p:nvGraphicFramePr>
          <p:cNvPr id="5" name="Table 4">
            <a:extLst>
              <a:ext uri="{FF2B5EF4-FFF2-40B4-BE49-F238E27FC236}">
                <a16:creationId xmlns:a16="http://schemas.microsoft.com/office/drawing/2014/main" id="{32604275-7C71-A25A-EB07-C8D03FF2F26C}"/>
              </a:ext>
            </a:extLst>
          </p:cNvPr>
          <p:cNvGraphicFramePr>
            <a:graphicFrameLocks noGrp="1"/>
          </p:cNvGraphicFramePr>
          <p:nvPr>
            <p:extLst>
              <p:ext uri="{D42A27DB-BD31-4B8C-83A1-F6EECF244321}">
                <p14:modId xmlns:p14="http://schemas.microsoft.com/office/powerpoint/2010/main" val="3581949059"/>
              </p:ext>
            </p:extLst>
          </p:nvPr>
        </p:nvGraphicFramePr>
        <p:xfrm>
          <a:off x="1067266" y="1763962"/>
          <a:ext cx="7009468" cy="1615576"/>
        </p:xfrm>
        <a:graphic>
          <a:graphicData uri="http://schemas.openxmlformats.org/drawingml/2006/table">
            <a:tbl>
              <a:tblPr firstRow="1" bandRow="1">
                <a:tableStyleId>{3B4B98B0-60AC-42C2-AFA5-B58CD77FA1E5}</a:tableStyleId>
              </a:tblPr>
              <a:tblGrid>
                <a:gridCol w="1294471">
                  <a:extLst>
                    <a:ext uri="{9D8B030D-6E8A-4147-A177-3AD203B41FA5}">
                      <a16:colId xmlns:a16="http://schemas.microsoft.com/office/drawing/2014/main" val="1900150643"/>
                    </a:ext>
                  </a:extLst>
                </a:gridCol>
                <a:gridCol w="5714997">
                  <a:extLst>
                    <a:ext uri="{9D8B030D-6E8A-4147-A177-3AD203B41FA5}">
                      <a16:colId xmlns:a16="http://schemas.microsoft.com/office/drawing/2014/main" val="3447506752"/>
                    </a:ext>
                  </a:extLst>
                </a:gridCol>
              </a:tblGrid>
              <a:tr h="265663">
                <a:tc>
                  <a: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1" u="none" strike="noStrike" kern="0" cap="none" spc="0" normalizeH="0" baseline="0" noProof="0" dirty="0">
                          <a:ln>
                            <a:noFill/>
                          </a:ln>
                          <a:solidFill>
                            <a:sysClr val="windowText" lastClr="000000"/>
                          </a:solidFill>
                          <a:effectLst/>
                          <a:uLnTx/>
                          <a:uFillTx/>
                          <a:latin typeface="Century Gothic" panose="020B0502020202020204" pitchFamily="34" charset="0"/>
                        </a:rPr>
                        <a:t>Day 6</a:t>
                      </a:r>
                      <a:endParaRPr kumimoji="0" lang="en-US" sz="1200" b="1" i="0" u="none" strike="noStrike" kern="0" cap="none" spc="0" normalizeH="0" baseline="0" noProof="0" dirty="0">
                        <a:ln>
                          <a:noFill/>
                        </a:ln>
                        <a:solidFill>
                          <a:sysClr val="windowText" lastClr="000000"/>
                        </a:solidFill>
                        <a:effectLst/>
                        <a:uLnTx/>
                        <a:uFillTx/>
                        <a:latin typeface="Century Gothic" panose="020B0502020202020204" pitchFamily="34" charset="0"/>
                        <a:cs typeface="Arial Black"/>
                      </a:endParaRPr>
                    </a:p>
                  </a:txBody>
                  <a:tcPr/>
                </a:tc>
                <a:tc>
                  <a:txBody>
                    <a:bodyPr/>
                    <a:lstStyle/>
                    <a:p>
                      <a:pPr marL="12700" indent="0">
                        <a:lnSpc>
                          <a:spcPct val="100000"/>
                        </a:lnSpc>
                        <a:spcBef>
                          <a:spcPts val="100"/>
                        </a:spcBef>
                        <a:buFont typeface="Arial MT"/>
                        <a:buNone/>
                        <a:tabLst>
                          <a:tab pos="166370" algn="l"/>
                        </a:tabLst>
                      </a:pPr>
                      <a:r>
                        <a:rPr lang="en-US" sz="1200" spc="0" dirty="0">
                          <a:latin typeface="Century Gothic" panose="020B0502020202020204" pitchFamily="34" charset="0"/>
                          <a:cs typeface="Lucida Sans Unicode"/>
                        </a:rPr>
                        <a:t>Transfer to Muscat &amp; Departure </a:t>
                      </a:r>
                    </a:p>
                  </a:txBody>
                  <a:tcPr/>
                </a:tc>
                <a:extLst>
                  <a:ext uri="{0D108BD9-81ED-4DB2-BD59-A6C34878D82A}">
                    <a16:rowId xmlns:a16="http://schemas.microsoft.com/office/drawing/2014/main" val="2515591956"/>
                  </a:ext>
                </a:extLst>
              </a:tr>
              <a:tr h="335314">
                <a:tc>
                  <a:txBody>
                    <a:bodyPr/>
                    <a:lstStyle/>
                    <a:p>
                      <a:endParaRPr lang="en-IN" sz="1200" spc="0" dirty="0">
                        <a:latin typeface="Century Gothic" panose="020B0502020202020204" pitchFamily="34"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spc="0" dirty="0">
                          <a:latin typeface="Century Gothic" panose="020B0502020202020204" pitchFamily="34" charset="0"/>
                          <a:cs typeface="Lucida Sans Unicode"/>
                        </a:rPr>
                        <a:t>Breakfast at the camp</a:t>
                      </a:r>
                    </a:p>
                  </a:txBody>
                  <a:tcPr/>
                </a:tc>
                <a:extLst>
                  <a:ext uri="{0D108BD9-81ED-4DB2-BD59-A6C34878D82A}">
                    <a16:rowId xmlns:a16="http://schemas.microsoft.com/office/drawing/2014/main" val="3134939611"/>
                  </a:ext>
                </a:extLst>
              </a:tr>
              <a:tr h="335314">
                <a:tc>
                  <a:txBody>
                    <a:bodyPr/>
                    <a:lstStyle/>
                    <a:p>
                      <a:endParaRPr lang="en-IN" sz="1200" spc="0" dirty="0">
                        <a:latin typeface="Century Gothic" panose="020B0502020202020204" pitchFamily="34" charset="0"/>
                      </a:endParaRPr>
                    </a:p>
                  </a:txBody>
                  <a:tcPr/>
                </a:tc>
                <a:tc>
                  <a:txBody>
                    <a:bodyPr/>
                    <a:lstStyle/>
                    <a:p>
                      <a:pPr marL="12700" indent="0">
                        <a:lnSpc>
                          <a:spcPct val="100000"/>
                        </a:lnSpc>
                        <a:spcBef>
                          <a:spcPts val="690"/>
                        </a:spcBef>
                        <a:buFont typeface="Arial MT"/>
                        <a:buNone/>
                        <a:tabLst>
                          <a:tab pos="166370" algn="l"/>
                        </a:tabLst>
                      </a:pPr>
                      <a:r>
                        <a:rPr lang="en-GB" sz="1200" dirty="0">
                          <a:latin typeface="Century Gothic" panose="020B0502020202020204" pitchFamily="34" charset="0"/>
                        </a:rPr>
                        <a:t>Visit Wadi Bani Khalid for relaxation and swimming (optional) </a:t>
                      </a:r>
                      <a:endParaRPr lang="en-IN" sz="1200" spc="0" dirty="0">
                        <a:latin typeface="Century Gothic" panose="020B0502020202020204" pitchFamily="34" charset="0"/>
                        <a:cs typeface="Lucida Sans Unicode"/>
                      </a:endParaRPr>
                    </a:p>
                  </a:txBody>
                  <a:tcPr/>
                </a:tc>
                <a:extLst>
                  <a:ext uri="{0D108BD9-81ED-4DB2-BD59-A6C34878D82A}">
                    <a16:rowId xmlns:a16="http://schemas.microsoft.com/office/drawing/2014/main" val="938666595"/>
                  </a:ext>
                </a:extLst>
              </a:tr>
              <a:tr h="335314">
                <a:tc>
                  <a:txBody>
                    <a:bodyPr/>
                    <a:lstStyle/>
                    <a:p>
                      <a:endParaRPr lang="en-IN" sz="1200" spc="0" dirty="0">
                        <a:latin typeface="Century Gothic" panose="020B0502020202020204" pitchFamily="34" charset="0"/>
                      </a:endParaRPr>
                    </a:p>
                  </a:txBody>
                  <a:tcPr/>
                </a:tc>
                <a:tc>
                  <a:txBody>
                    <a:bodyPr/>
                    <a:lstStyle/>
                    <a:p>
                      <a:pPr marL="12700" indent="0">
                        <a:lnSpc>
                          <a:spcPct val="100000"/>
                        </a:lnSpc>
                        <a:spcBef>
                          <a:spcPts val="695"/>
                        </a:spcBef>
                        <a:buFont typeface="Arial MT"/>
                        <a:buNone/>
                        <a:tabLst>
                          <a:tab pos="166370" algn="l"/>
                        </a:tabLst>
                      </a:pPr>
                      <a:r>
                        <a:rPr lang="en-GB" sz="1200" dirty="0">
                          <a:latin typeface="Century Gothic" panose="020B0502020202020204" pitchFamily="34" charset="0"/>
                        </a:rPr>
                        <a:t>Lunch at a local restaurant</a:t>
                      </a:r>
                      <a:endParaRPr lang="en-US" sz="1200" spc="0" dirty="0">
                        <a:latin typeface="Century Gothic" panose="020B0502020202020204" pitchFamily="34" charset="0"/>
                        <a:cs typeface="Lucida Sans Unicode"/>
                      </a:endParaRPr>
                    </a:p>
                  </a:txBody>
                  <a:tcPr/>
                </a:tc>
                <a:extLst>
                  <a:ext uri="{0D108BD9-81ED-4DB2-BD59-A6C34878D82A}">
                    <a16:rowId xmlns:a16="http://schemas.microsoft.com/office/drawing/2014/main" val="3203121180"/>
                  </a:ext>
                </a:extLst>
              </a:tr>
              <a:tr h="335314">
                <a:tc>
                  <a:txBody>
                    <a:bodyPr/>
                    <a:lstStyle/>
                    <a:p>
                      <a:endParaRPr lang="en-IN" sz="1200" spc="0" dirty="0">
                        <a:latin typeface="Century Gothic" panose="020B0502020202020204" pitchFamily="34" charset="0"/>
                      </a:endParaRPr>
                    </a:p>
                  </a:txBody>
                  <a:tcPr/>
                </a:tc>
                <a:tc>
                  <a:txBody>
                    <a:bodyPr/>
                    <a:lstStyle/>
                    <a:p>
                      <a:pPr marL="12700" indent="0">
                        <a:lnSpc>
                          <a:spcPct val="100000"/>
                        </a:lnSpc>
                        <a:spcBef>
                          <a:spcPts val="695"/>
                        </a:spcBef>
                        <a:buFont typeface="Arial MT"/>
                        <a:buNone/>
                        <a:tabLst>
                          <a:tab pos="166370" algn="l"/>
                        </a:tabLst>
                      </a:pPr>
                      <a:r>
                        <a:rPr lang="en-US" sz="1200" spc="0" dirty="0">
                          <a:latin typeface="Century Gothic" panose="020B0502020202020204" pitchFamily="34" charset="0"/>
                          <a:cs typeface="Lucida Sans Unicode"/>
                        </a:rPr>
                        <a:t>Transfer to Muscat Airport for your onward flight</a:t>
                      </a:r>
                    </a:p>
                  </a:txBody>
                  <a:tcPr/>
                </a:tc>
                <a:extLst>
                  <a:ext uri="{0D108BD9-81ED-4DB2-BD59-A6C34878D82A}">
                    <a16:rowId xmlns:a16="http://schemas.microsoft.com/office/drawing/2014/main" val="2205818432"/>
                  </a:ext>
                </a:extLst>
              </a:tr>
            </a:tbl>
          </a:graphicData>
        </a:graphic>
      </p:graphicFrame>
    </p:spTree>
    <p:extLst>
      <p:ext uri="{BB962C8B-B14F-4D97-AF65-F5344CB8AC3E}">
        <p14:creationId xmlns:p14="http://schemas.microsoft.com/office/powerpoint/2010/main" val="236672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D675-DD00-546E-CDB9-B924ED669D9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8607E720-E4A5-95B9-8259-7A8224582CF7}"/>
              </a:ext>
            </a:extLst>
          </p:cNvPr>
          <p:cNvSpPr>
            <a:spLocks noGrp="1"/>
          </p:cNvSpPr>
          <p:nvPr>
            <p:ph type="title"/>
          </p:nvPr>
        </p:nvSpPr>
        <p:spPr/>
        <p:txBody>
          <a:bodyPr>
            <a:noAutofit/>
          </a:bodyPr>
          <a:lstStyle/>
          <a:p>
            <a:r>
              <a:rPr lang="de-AT" sz="2100" dirty="0">
                <a:latin typeface="Century Gothic" panose="020B0502020202020204" pitchFamily="34" charset="0"/>
              </a:rPr>
              <a:t>Day 1 Arrival in Muscat</a:t>
            </a:r>
          </a:p>
        </p:txBody>
      </p:sp>
    </p:spTree>
    <p:extLst>
      <p:ext uri="{BB962C8B-B14F-4D97-AF65-F5344CB8AC3E}">
        <p14:creationId xmlns:p14="http://schemas.microsoft.com/office/powerpoint/2010/main" val="3701728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CABC3-01E3-DBB1-6D27-71DEB9C68B50}"/>
            </a:ext>
          </a:extLst>
        </p:cNvPr>
        <p:cNvGrpSpPr/>
        <p:nvPr/>
      </p:nvGrpSpPr>
      <p:grpSpPr>
        <a:xfrm>
          <a:off x="0" y="0"/>
          <a:ext cx="0" cy="0"/>
          <a:chOff x="0" y="0"/>
          <a:chExt cx="0" cy="0"/>
        </a:xfrm>
      </p:grpSpPr>
      <p:sp>
        <p:nvSpPr>
          <p:cNvPr id="21" name="Inhaltsplatzhalter 3">
            <a:extLst>
              <a:ext uri="{FF2B5EF4-FFF2-40B4-BE49-F238E27FC236}">
                <a16:creationId xmlns:a16="http://schemas.microsoft.com/office/drawing/2014/main" id="{D71C9D66-2E8C-21DB-1F35-4F5E8E991C06}"/>
              </a:ext>
            </a:extLst>
          </p:cNvPr>
          <p:cNvSpPr txBox="1">
            <a:spLocks/>
          </p:cNvSpPr>
          <p:nvPr/>
        </p:nvSpPr>
        <p:spPr>
          <a:xfrm>
            <a:off x="4531649" y="2109886"/>
            <a:ext cx="4295775" cy="1614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de-AT" sz="1200" dirty="0">
              <a:solidFill>
                <a:schemeClr val="tx1">
                  <a:lumMod val="75000"/>
                  <a:lumOff val="25000"/>
                </a:schemeClr>
              </a:solidFill>
              <a:latin typeface="Century Gothic" panose="020B0502020202020204" pitchFamily="34" charset="0"/>
            </a:endParaRPr>
          </a:p>
        </p:txBody>
      </p:sp>
      <p:pic>
        <p:nvPicPr>
          <p:cNvPr id="2052" name="Picture 4" descr="Come and visit now here in Oman to experience the spectacular views and  beautiful view of all tourist spot in Oman. - Picture of Muscat, Muscat  Governorate - Tripadvisor">
            <a:extLst>
              <a:ext uri="{FF2B5EF4-FFF2-40B4-BE49-F238E27FC236}">
                <a16:creationId xmlns:a16="http://schemas.microsoft.com/office/drawing/2014/main" id="{662DBD55-1351-F2B5-AF6E-A3BB4821F0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8" r="25258"/>
          <a:stretch>
            <a:fillRect/>
          </a:stretch>
        </p:blipFill>
        <p:spPr bwMode="auto">
          <a:xfrm>
            <a:off x="-111252" y="-19050"/>
            <a:ext cx="4759452" cy="4708081"/>
          </a:xfrm>
          <a:prstGeom prst="rect">
            <a:avLst/>
          </a:prstGeom>
          <a:noFill/>
          <a:extLst>
            <a:ext uri="{909E8E84-426E-40DD-AFC4-6F175D3DCCD1}">
              <a14:hiddenFill xmlns:a14="http://schemas.microsoft.com/office/drawing/2010/main">
                <a:solidFill>
                  <a:srgbClr val="FFFFFF"/>
                </a:solidFill>
              </a14:hiddenFill>
            </a:ext>
          </a:extLst>
        </p:spPr>
      </p:pic>
      <p:sp>
        <p:nvSpPr>
          <p:cNvPr id="2" name="Titel 2">
            <a:extLst>
              <a:ext uri="{FF2B5EF4-FFF2-40B4-BE49-F238E27FC236}">
                <a16:creationId xmlns:a16="http://schemas.microsoft.com/office/drawing/2014/main" id="{04FCC5F2-596D-E464-AB3E-DE32261F6EDF}"/>
              </a:ext>
            </a:extLst>
          </p:cNvPr>
          <p:cNvSpPr txBox="1">
            <a:spLocks/>
          </p:cNvSpPr>
          <p:nvPr/>
        </p:nvSpPr>
        <p:spPr>
          <a:xfrm>
            <a:off x="4823841" y="3000916"/>
            <a:ext cx="4295775" cy="6330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AT" sz="1800" b="1" dirty="0">
                <a:solidFill>
                  <a:schemeClr val="tx1">
                    <a:lumMod val="75000"/>
                    <a:lumOff val="25000"/>
                  </a:schemeClr>
                </a:solidFill>
                <a:latin typeface="Century Gothic" panose="020B0502020202020204" pitchFamily="34" charset="0"/>
              </a:rPr>
              <a:t>MUSCAT</a:t>
            </a:r>
          </a:p>
        </p:txBody>
      </p:sp>
      <p:sp>
        <p:nvSpPr>
          <p:cNvPr id="4" name="Rectangle 3">
            <a:extLst>
              <a:ext uri="{FF2B5EF4-FFF2-40B4-BE49-F238E27FC236}">
                <a16:creationId xmlns:a16="http://schemas.microsoft.com/office/drawing/2014/main" id="{09234AE2-F6CC-98B0-5C60-6FB3514AD360}"/>
              </a:ext>
            </a:extLst>
          </p:cNvPr>
          <p:cNvSpPr>
            <a:spLocks noChangeArrowheads="1"/>
          </p:cNvSpPr>
          <p:nvPr/>
        </p:nvSpPr>
        <p:spPr bwMode="auto">
          <a:xfrm>
            <a:off x="4826889" y="3404699"/>
            <a:ext cx="3886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entury Gothic" panose="020B0502020202020204" pitchFamily="34" charset="0"/>
              </a:rPr>
              <a:t>Oman, a land of captivating contrasts, beckons with its rich history, breathtaking landscapes, and warm Arabian hospitality. Nestled on the southeastern coast of the Arabian Peninsula, this enchanting country offers a unique blend of ancient traditions and modern progress. </a:t>
            </a:r>
          </a:p>
        </p:txBody>
      </p:sp>
    </p:spTree>
    <p:extLst>
      <p:ext uri="{BB962C8B-B14F-4D97-AF65-F5344CB8AC3E}">
        <p14:creationId xmlns:p14="http://schemas.microsoft.com/office/powerpoint/2010/main" val="3603523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C4286-10A9-503F-ABA7-4F1B44C72A8B}"/>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B8DAB87C-2045-2902-6C11-46147261E77D}"/>
              </a:ext>
            </a:extLst>
          </p:cNvPr>
          <p:cNvSpPr>
            <a:spLocks noGrp="1"/>
          </p:cNvSpPr>
          <p:nvPr>
            <p:ph type="ctrTitle"/>
          </p:nvPr>
        </p:nvSpPr>
        <p:spPr>
          <a:xfrm>
            <a:off x="838199" y="3867151"/>
            <a:ext cx="7467600" cy="480650"/>
          </a:xfrm>
        </p:spPr>
        <p:txBody>
          <a:bodyPr>
            <a:noAutofit/>
          </a:bodyPr>
          <a:lstStyle/>
          <a:p>
            <a:pPr algn="ctr"/>
            <a:r>
              <a:rPr lang="de-AT" sz="2400" dirty="0">
                <a:solidFill>
                  <a:schemeClr val="tx1">
                    <a:lumMod val="75000"/>
                    <a:lumOff val="25000"/>
                  </a:schemeClr>
                </a:solidFill>
                <a:latin typeface="Century Gothic" panose="020B0502020202020204" pitchFamily="34" charset="0"/>
              </a:rPr>
              <a:t>Al-Falaj Hotel, Muscat</a:t>
            </a:r>
          </a:p>
        </p:txBody>
      </p:sp>
      <p:pic>
        <p:nvPicPr>
          <p:cNvPr id="1028" name="Picture 4">
            <a:extLst>
              <a:ext uri="{FF2B5EF4-FFF2-40B4-BE49-F238E27FC236}">
                <a16:creationId xmlns:a16="http://schemas.microsoft.com/office/drawing/2014/main" id="{0CDEDDC0-1DCC-C062-4B69-C0A14D6913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689" r="26075" b="43170"/>
          <a:stretch/>
        </p:blipFill>
        <p:spPr bwMode="auto">
          <a:xfrm>
            <a:off x="4038600" y="4400550"/>
            <a:ext cx="941785" cy="205632"/>
          </a:xfrm>
          <a:prstGeom prst="rect">
            <a:avLst/>
          </a:prstGeom>
          <a:noFill/>
          <a:extLst>
            <a:ext uri="{909E8E84-426E-40DD-AFC4-6F175D3DCCD1}">
              <a14:hiddenFill xmlns:a14="http://schemas.microsoft.com/office/drawing/2010/main">
                <a:solidFill>
                  <a:srgbClr val="FFFFFF"/>
                </a:solidFill>
              </a14:hiddenFill>
            </a:ext>
          </a:extLst>
        </p:spPr>
      </p:pic>
      <p:pic>
        <p:nvPicPr>
          <p:cNvPr id="29698" name="Picture 2" descr="Discover Oman with Aitken Spence Hotels: From City Lights to Desert Nights  | Aitkenspence Hotels - Blog">
            <a:extLst>
              <a:ext uri="{FF2B5EF4-FFF2-40B4-BE49-F238E27FC236}">
                <a16:creationId xmlns:a16="http://schemas.microsoft.com/office/drawing/2014/main" id="{1AC52BE8-4232-F04E-35AF-25D59DBBC20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117" b="12133"/>
          <a:stretch>
            <a:fillRect/>
          </a:stretch>
        </p:blipFill>
        <p:spPr bwMode="auto">
          <a:xfrm>
            <a:off x="0" y="-1"/>
            <a:ext cx="9144000" cy="3867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9039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8B5F-ADE9-65E5-27BC-62E8E06967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D9BD60-1CDF-3A21-1FE7-E1136E100442}"/>
              </a:ext>
            </a:extLst>
          </p:cNvPr>
          <p:cNvSpPr txBox="1"/>
          <p:nvPr/>
        </p:nvSpPr>
        <p:spPr>
          <a:xfrm>
            <a:off x="6705600" y="3790950"/>
            <a:ext cx="2299607" cy="1200329"/>
          </a:xfrm>
          <a:prstGeom prst="rect">
            <a:avLst/>
          </a:prstGeom>
          <a:noFill/>
        </p:spPr>
        <p:txBody>
          <a:bodyPr wrap="square">
            <a:spAutoFit/>
          </a:bodyPr>
          <a:lstStyle/>
          <a:p>
            <a:pPr algn="just"/>
            <a:r>
              <a:rPr lang="en-GB" sz="1200" dirty="0">
                <a:latin typeface="Century Gothic" panose="020B0502020202020204" pitchFamily="34" charset="0"/>
              </a:rPr>
              <a:t>The </a:t>
            </a:r>
            <a:r>
              <a:rPr lang="en-GB" sz="1200" b="1" dirty="0">
                <a:latin typeface="Century Gothic" panose="020B0502020202020204" pitchFamily="34" charset="0"/>
              </a:rPr>
              <a:t>Al Falaj Hotel</a:t>
            </a:r>
            <a:r>
              <a:rPr lang="en-GB" sz="1200" dirty="0">
                <a:latin typeface="Century Gothic" panose="020B0502020202020204" pitchFamily="34" charset="0"/>
              </a:rPr>
              <a:t> in Muscat offers </a:t>
            </a:r>
            <a:r>
              <a:rPr lang="en-GB" sz="1200" b="1" dirty="0">
                <a:latin typeface="Century Gothic" panose="020B0502020202020204" pitchFamily="34" charset="0"/>
              </a:rPr>
              <a:t>140 rooms and suites</a:t>
            </a:r>
          </a:p>
          <a:p>
            <a:pPr algn="just"/>
            <a:endParaRPr lang="en-GB" sz="1200" b="1" dirty="0">
              <a:solidFill>
                <a:schemeClr val="tx1">
                  <a:lumMod val="95000"/>
                  <a:lumOff val="5000"/>
                </a:schemeClr>
              </a:solidFill>
              <a:latin typeface="Century Gothic" panose="020B0502020202020204" pitchFamily="34" charset="0"/>
            </a:endParaRPr>
          </a:p>
          <a:p>
            <a:pPr algn="just"/>
            <a:r>
              <a:rPr lang="en-GB" sz="1200" dirty="0">
                <a:solidFill>
                  <a:schemeClr val="tx1">
                    <a:lumMod val="95000"/>
                    <a:lumOff val="5000"/>
                  </a:schemeClr>
                </a:solidFill>
                <a:latin typeface="Century Gothic" panose="020B0502020202020204" pitchFamily="34" charset="0"/>
              </a:rPr>
              <a:t>The size of a deluxe room is a</a:t>
            </a:r>
            <a:r>
              <a:rPr lang="en-GB" sz="1200" b="0" i="0" dirty="0">
                <a:solidFill>
                  <a:schemeClr val="tx1">
                    <a:lumMod val="95000"/>
                    <a:lumOff val="5000"/>
                  </a:schemeClr>
                </a:solidFill>
                <a:effectLst/>
                <a:latin typeface="Century Gothic" panose="020B0502020202020204" pitchFamily="34" charset="0"/>
              </a:rPr>
              <a:t>pproximately </a:t>
            </a:r>
            <a:r>
              <a:rPr lang="en-GB" sz="1200" b="1" dirty="0">
                <a:solidFill>
                  <a:schemeClr val="tx1">
                    <a:lumMod val="95000"/>
                    <a:lumOff val="5000"/>
                  </a:schemeClr>
                </a:solidFill>
                <a:latin typeface="Century Gothic" panose="020B0502020202020204" pitchFamily="34" charset="0"/>
              </a:rPr>
              <a:t>30</a:t>
            </a:r>
            <a:r>
              <a:rPr lang="en-GB" sz="1200" b="1" i="0" dirty="0">
                <a:solidFill>
                  <a:schemeClr val="tx1">
                    <a:lumMod val="95000"/>
                    <a:lumOff val="5000"/>
                  </a:schemeClr>
                </a:solidFill>
                <a:effectLst/>
                <a:latin typeface="Century Gothic" panose="020B0502020202020204" pitchFamily="34" charset="0"/>
              </a:rPr>
              <a:t>-35 square meters.</a:t>
            </a:r>
            <a:endParaRPr lang="en-GB" sz="1200" b="0" i="0" dirty="0">
              <a:solidFill>
                <a:schemeClr val="tx1">
                  <a:lumMod val="95000"/>
                  <a:lumOff val="5000"/>
                </a:schemeClr>
              </a:solidFill>
              <a:effectLst/>
              <a:latin typeface="Century Gothic" panose="020B0502020202020204" pitchFamily="34" charset="0"/>
            </a:endParaRPr>
          </a:p>
        </p:txBody>
      </p:sp>
      <p:pic>
        <p:nvPicPr>
          <p:cNvPr id="30722" name="Picture 2" descr="Al Falaj Hotel Rooms: Pictures &amp; Reviews - Tripadvisor">
            <a:extLst>
              <a:ext uri="{FF2B5EF4-FFF2-40B4-BE49-F238E27FC236}">
                <a16:creationId xmlns:a16="http://schemas.microsoft.com/office/drawing/2014/main" id="{94FA05CD-99B9-0D7D-D4AF-EB8AB313DA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872" t="-104" r="3142" b="104"/>
          <a:stretch>
            <a:fillRect/>
          </a:stretch>
        </p:blipFill>
        <p:spPr bwMode="auto">
          <a:xfrm>
            <a:off x="-1" y="0"/>
            <a:ext cx="6629401"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883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1F6CA-284F-81E3-ED1A-A7483190229A}"/>
            </a:ext>
          </a:extLst>
        </p:cNvPr>
        <p:cNvGrpSpPr/>
        <p:nvPr/>
      </p:nvGrpSpPr>
      <p:grpSpPr>
        <a:xfrm>
          <a:off x="0" y="0"/>
          <a:ext cx="0" cy="0"/>
          <a:chOff x="0" y="0"/>
          <a:chExt cx="0" cy="0"/>
        </a:xfrm>
      </p:grpSpPr>
      <p:sp>
        <p:nvSpPr>
          <p:cNvPr id="6" name="AutoShape 4" descr="Leonardo Royal Hotel Baden-Baden | Baden-Baden 2020 UPDATED DEALS ₹8827, HD  Photos &amp; Reviews">
            <a:extLst>
              <a:ext uri="{FF2B5EF4-FFF2-40B4-BE49-F238E27FC236}">
                <a16:creationId xmlns:a16="http://schemas.microsoft.com/office/drawing/2014/main" id="{B06125E2-064A-EA44-A148-C349C28ED24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1746" name="Picture 2" descr="Al Falaj Hotel Reviews, Deals &amp; Photos 2025 - Expedia.co.in">
            <a:extLst>
              <a:ext uri="{FF2B5EF4-FFF2-40B4-BE49-F238E27FC236}">
                <a16:creationId xmlns:a16="http://schemas.microsoft.com/office/drawing/2014/main" id="{7251C125-96B2-3377-00F1-04F086D8EB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769"/>
          <a:stretch>
            <a:fillRect/>
          </a:stretch>
        </p:blipFill>
        <p:spPr bwMode="auto">
          <a:xfrm>
            <a:off x="1" y="2571750"/>
            <a:ext cx="44196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descr="Al Falaj Hotel sale to Lankan group gets nod - OERLive">
            <a:extLst>
              <a:ext uri="{FF2B5EF4-FFF2-40B4-BE49-F238E27FC236}">
                <a16:creationId xmlns:a16="http://schemas.microsoft.com/office/drawing/2014/main" id="{826002D1-C0E2-84B2-6C7A-E2BFEA03A3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430"/>
          <a:stretch>
            <a:fillRect/>
          </a:stretch>
        </p:blipFill>
        <p:spPr bwMode="auto">
          <a:xfrm>
            <a:off x="4495799" y="2571750"/>
            <a:ext cx="4648199" cy="2583179"/>
          </a:xfrm>
          <a:prstGeom prst="rect">
            <a:avLst/>
          </a:prstGeom>
          <a:noFill/>
          <a:extLst>
            <a:ext uri="{909E8E84-426E-40DD-AFC4-6F175D3DCCD1}">
              <a14:hiddenFill xmlns:a14="http://schemas.microsoft.com/office/drawing/2010/main">
                <a:solidFill>
                  <a:srgbClr val="FFFFFF"/>
                </a:solidFill>
              </a14:hiddenFill>
            </a:ext>
          </a:extLst>
        </p:spPr>
      </p:pic>
      <p:pic>
        <p:nvPicPr>
          <p:cNvPr id="31750" name="Picture 6" descr="Al Falaj Hotel, Muscat | 2025 Updated Prices, Deals">
            <a:extLst>
              <a:ext uri="{FF2B5EF4-FFF2-40B4-BE49-F238E27FC236}">
                <a16:creationId xmlns:a16="http://schemas.microsoft.com/office/drawing/2014/main" id="{7AE363DE-9E96-BC54-B722-5E9B6AB477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825"/>
          <a:stretch>
            <a:fillRect/>
          </a:stretch>
        </p:blipFill>
        <p:spPr bwMode="auto">
          <a:xfrm>
            <a:off x="4861" y="1"/>
            <a:ext cx="4414739" cy="2495550"/>
          </a:xfrm>
          <a:prstGeom prst="rect">
            <a:avLst/>
          </a:prstGeom>
          <a:noFill/>
          <a:extLst>
            <a:ext uri="{909E8E84-426E-40DD-AFC4-6F175D3DCCD1}">
              <a14:hiddenFill xmlns:a14="http://schemas.microsoft.com/office/drawing/2010/main">
                <a:solidFill>
                  <a:srgbClr val="FFFFFF"/>
                </a:solidFill>
              </a14:hiddenFill>
            </a:ext>
          </a:extLst>
        </p:spPr>
      </p:pic>
      <p:pic>
        <p:nvPicPr>
          <p:cNvPr id="31752" name="Picture 8" descr="Al Falaj Hotel | Muscat 2020 UPDATED DEALS ₹3493, HD Photos &amp; Reviews">
            <a:extLst>
              <a:ext uri="{FF2B5EF4-FFF2-40B4-BE49-F238E27FC236}">
                <a16:creationId xmlns:a16="http://schemas.microsoft.com/office/drawing/2014/main" id="{79D66114-CAEC-7095-3223-5B7676FB9B9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6738" b="2730"/>
          <a:stretch>
            <a:fillRect/>
          </a:stretch>
        </p:blipFill>
        <p:spPr bwMode="auto">
          <a:xfrm>
            <a:off x="4495798" y="-1"/>
            <a:ext cx="4648202" cy="2495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063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A1010-26BB-FAF3-DE99-6579380185CB}"/>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75910535-89FA-A8D2-E749-1A7CC66008C7}"/>
              </a:ext>
            </a:extLst>
          </p:cNvPr>
          <p:cNvSpPr>
            <a:spLocks noGrp="1"/>
          </p:cNvSpPr>
          <p:nvPr>
            <p:ph type="ctrTitle"/>
          </p:nvPr>
        </p:nvSpPr>
        <p:spPr>
          <a:xfrm>
            <a:off x="7010400" y="2601468"/>
            <a:ext cx="2057400" cy="2385650"/>
          </a:xfrm>
        </p:spPr>
        <p:txBody>
          <a:bodyPr>
            <a:noAutofit/>
          </a:bodyPr>
          <a:lstStyle/>
          <a:p>
            <a:r>
              <a:rPr lang="en-US" sz="1800" dirty="0">
                <a:solidFill>
                  <a:schemeClr val="tx1">
                    <a:lumMod val="75000"/>
                    <a:lumOff val="25000"/>
                  </a:schemeClr>
                </a:solidFill>
                <a:latin typeface="Century Gothic" panose="020B0502020202020204" pitchFamily="34" charset="0"/>
              </a:rPr>
              <a:t>Arrive at Muscat international Airport. Meet &amp; greet by our representative</a:t>
            </a:r>
            <a:br>
              <a:rPr lang="en-US" sz="1800" dirty="0">
                <a:solidFill>
                  <a:schemeClr val="tx1">
                    <a:lumMod val="75000"/>
                    <a:lumOff val="25000"/>
                  </a:schemeClr>
                </a:solidFill>
                <a:latin typeface="Century Gothic" panose="020B0502020202020204" pitchFamily="34" charset="0"/>
              </a:rPr>
            </a:br>
            <a:br>
              <a:rPr lang="en-US" sz="1800" dirty="0">
                <a:solidFill>
                  <a:schemeClr val="tx1">
                    <a:lumMod val="75000"/>
                    <a:lumOff val="25000"/>
                  </a:schemeClr>
                </a:solidFill>
                <a:latin typeface="Century Gothic" panose="020B0502020202020204" pitchFamily="34" charset="0"/>
              </a:rPr>
            </a:br>
            <a:r>
              <a:rPr lang="en-US" sz="1800" dirty="0">
                <a:solidFill>
                  <a:schemeClr val="tx1">
                    <a:lumMod val="75000"/>
                    <a:lumOff val="25000"/>
                  </a:schemeClr>
                </a:solidFill>
                <a:latin typeface="Century Gothic" panose="020B0502020202020204" pitchFamily="34" charset="0"/>
              </a:rPr>
              <a:t>Transfer to Hotel</a:t>
            </a:r>
            <a:endParaRPr lang="en-IN" sz="1800" dirty="0">
              <a:solidFill>
                <a:schemeClr val="tx1">
                  <a:lumMod val="75000"/>
                  <a:lumOff val="25000"/>
                </a:schemeClr>
              </a:solidFill>
              <a:latin typeface="Century Gothic" panose="020B0502020202020204" pitchFamily="34" charset="0"/>
            </a:endParaRPr>
          </a:p>
        </p:txBody>
      </p:sp>
      <p:pic>
        <p:nvPicPr>
          <p:cNvPr id="3074" name="Picture 2" descr="Driver Trett Celebrate the Opening of Muscat International Airport | Diales">
            <a:extLst>
              <a:ext uri="{FF2B5EF4-FFF2-40B4-BE49-F238E27FC236}">
                <a16:creationId xmlns:a16="http://schemas.microsoft.com/office/drawing/2014/main" id="{374723B1-EE1E-60CE-9129-49779456E2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02"/>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376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A3E38-FF23-4B8F-1A8F-DDD4633C1E0C}"/>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92D6C403-D115-4672-CA02-72827D9915BF}"/>
              </a:ext>
            </a:extLst>
          </p:cNvPr>
          <p:cNvSpPr>
            <a:spLocks noGrp="1"/>
          </p:cNvSpPr>
          <p:nvPr>
            <p:ph type="ctrTitle"/>
          </p:nvPr>
        </p:nvSpPr>
        <p:spPr>
          <a:xfrm>
            <a:off x="6618632" y="1200150"/>
            <a:ext cx="2412392" cy="633050"/>
          </a:xfrm>
        </p:spPr>
        <p:txBody>
          <a:bodyPr>
            <a:noAutofit/>
          </a:bodyPr>
          <a:lstStyle/>
          <a:p>
            <a:r>
              <a:rPr lang="en-US" sz="1800" dirty="0">
                <a:solidFill>
                  <a:schemeClr val="tx1">
                    <a:lumMod val="75000"/>
                    <a:lumOff val="25000"/>
                  </a:schemeClr>
                </a:solidFill>
                <a:latin typeface="Century Gothic" panose="020B0502020202020204" pitchFamily="34" charset="0"/>
              </a:rPr>
              <a:t>Sunset Dhow cruise</a:t>
            </a:r>
            <a:endParaRPr lang="de-AT" sz="1800" dirty="0">
              <a:solidFill>
                <a:schemeClr val="tx1">
                  <a:lumMod val="75000"/>
                  <a:lumOff val="25000"/>
                </a:schemeClr>
              </a:solidFill>
              <a:latin typeface="Century Gothic" panose="020B0502020202020204" pitchFamily="34" charset="0"/>
            </a:endParaRPr>
          </a:p>
        </p:txBody>
      </p:sp>
      <p:sp>
        <p:nvSpPr>
          <p:cNvPr id="20" name="Untertitel 4">
            <a:extLst>
              <a:ext uri="{FF2B5EF4-FFF2-40B4-BE49-F238E27FC236}">
                <a16:creationId xmlns:a16="http://schemas.microsoft.com/office/drawing/2014/main" id="{DEDFC0EF-7290-5498-905E-030573125888}"/>
              </a:ext>
            </a:extLst>
          </p:cNvPr>
          <p:cNvSpPr txBox="1">
            <a:spLocks/>
          </p:cNvSpPr>
          <p:nvPr/>
        </p:nvSpPr>
        <p:spPr>
          <a:xfrm>
            <a:off x="6553200" y="1858914"/>
            <a:ext cx="2412392" cy="19610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1400" dirty="0">
                <a:latin typeface="Century Gothic" panose="020B0502020202020204" pitchFamily="34" charset="0"/>
              </a:rPr>
              <a:t>A sunset dhow cruise is a magical experience. As the golden sun dips below the horizon, the sky bursts into vibrant hues of orange, pink, and purple. The traditional wooden dhow glides smoothly over calm waters, offering breathtaking views. The soothing breeze and serene atmosphere create unforgettable memories of peace and beauty.</a:t>
            </a:r>
            <a:endParaRPr lang="de-AT" sz="1400" dirty="0">
              <a:latin typeface="Century Gothic" panose="020B0502020202020204" pitchFamily="34" charset="0"/>
            </a:endParaRPr>
          </a:p>
        </p:txBody>
      </p:sp>
      <p:pic>
        <p:nvPicPr>
          <p:cNvPr id="4098" name="Picture 2" descr="Experience the Best Sunset Dhow Cruise Zanzibar: A Memorable Adventure -  WeAreZanzibar">
            <a:extLst>
              <a:ext uri="{FF2B5EF4-FFF2-40B4-BE49-F238E27FC236}">
                <a16:creationId xmlns:a16="http://schemas.microsoft.com/office/drawing/2014/main" id="{2D1CAD18-7FFB-C6A6-0DFA-C126F726DB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509"/>
          <a:stretch>
            <a:fillRect/>
          </a:stretch>
        </p:blipFill>
        <p:spPr bwMode="auto">
          <a:xfrm>
            <a:off x="0" y="0"/>
            <a:ext cx="6411568"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87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8E24F-63C2-0057-E577-D4325E85C19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9ACB6A1-1902-A8D2-DE44-7B2BB24BBC01}"/>
              </a:ext>
            </a:extLst>
          </p:cNvPr>
          <p:cNvSpPr>
            <a:spLocks noGrp="1"/>
          </p:cNvSpPr>
          <p:nvPr>
            <p:ph type="ctrTitle"/>
          </p:nvPr>
        </p:nvSpPr>
        <p:spPr>
          <a:xfrm>
            <a:off x="6030070" y="170317"/>
            <a:ext cx="2966830" cy="553998"/>
          </a:xfrm>
        </p:spPr>
        <p:txBody>
          <a:bodyPr>
            <a:spAutoFit/>
          </a:bodyPr>
          <a:lstStyle/>
          <a:p>
            <a:r>
              <a:rPr lang="de-AT" sz="1800" dirty="0">
                <a:solidFill>
                  <a:schemeClr val="tx1">
                    <a:lumMod val="75000"/>
                    <a:lumOff val="25000"/>
                  </a:schemeClr>
                </a:solidFill>
                <a:latin typeface="Century Gothic" panose="020B0502020202020204" pitchFamily="34" charset="0"/>
              </a:rPr>
              <a:t>Dinner at</a:t>
            </a:r>
            <a:br>
              <a:rPr lang="de-AT" sz="1800" dirty="0">
                <a:solidFill>
                  <a:schemeClr val="tx1">
                    <a:lumMod val="75000"/>
                    <a:lumOff val="25000"/>
                  </a:schemeClr>
                </a:solidFill>
                <a:latin typeface="Century Gothic" panose="020B0502020202020204" pitchFamily="34" charset="0"/>
              </a:rPr>
            </a:br>
            <a:r>
              <a:rPr lang="de-AT" sz="1800" dirty="0">
                <a:solidFill>
                  <a:schemeClr val="tx1">
                    <a:lumMod val="75000"/>
                    <a:lumOff val="25000"/>
                  </a:schemeClr>
                </a:solidFill>
                <a:latin typeface="Century Gothic" panose="020B0502020202020204" pitchFamily="34" charset="0"/>
              </a:rPr>
              <a:t>Bait Al Yasmine</a:t>
            </a:r>
          </a:p>
        </p:txBody>
      </p:sp>
      <p:sp>
        <p:nvSpPr>
          <p:cNvPr id="4" name="Textplatzhalter 3">
            <a:extLst>
              <a:ext uri="{FF2B5EF4-FFF2-40B4-BE49-F238E27FC236}">
                <a16:creationId xmlns:a16="http://schemas.microsoft.com/office/drawing/2014/main" id="{0A70E07D-FEBF-AB5F-E34B-BC804D0C3D01}"/>
              </a:ext>
            </a:extLst>
          </p:cNvPr>
          <p:cNvSpPr>
            <a:spLocks noGrp="1"/>
          </p:cNvSpPr>
          <p:nvPr>
            <p:ph type="body" sz="quarter" idx="11"/>
          </p:nvPr>
        </p:nvSpPr>
        <p:spPr>
          <a:xfrm>
            <a:off x="7537762" y="1906713"/>
            <a:ext cx="1606234" cy="217442"/>
          </a:xfrm>
        </p:spPr>
        <p:txBody>
          <a:bodyPr/>
          <a:lstStyle/>
          <a:p>
            <a:r>
              <a:rPr lang="de-AT" dirty="0">
                <a:latin typeface="Century Gothic" panose="020B0502020202020204" pitchFamily="34" charset="0"/>
              </a:rPr>
              <a:t>Warm and Rustic</a:t>
            </a:r>
            <a:endParaRPr lang="de-AT" dirty="0"/>
          </a:p>
        </p:txBody>
      </p:sp>
      <p:sp>
        <p:nvSpPr>
          <p:cNvPr id="5" name="Untertitel 4">
            <a:extLst>
              <a:ext uri="{FF2B5EF4-FFF2-40B4-BE49-F238E27FC236}">
                <a16:creationId xmlns:a16="http://schemas.microsoft.com/office/drawing/2014/main" id="{9C02B916-D078-CD66-6D49-C792E74FA835}"/>
              </a:ext>
            </a:extLst>
          </p:cNvPr>
          <p:cNvSpPr>
            <a:spLocks noGrp="1"/>
          </p:cNvSpPr>
          <p:nvPr>
            <p:ph type="subTitle" idx="1"/>
          </p:nvPr>
        </p:nvSpPr>
        <p:spPr>
          <a:xfrm>
            <a:off x="6030071" y="957338"/>
            <a:ext cx="2966829" cy="651126"/>
          </a:xfrm>
        </p:spPr>
        <p:txBody>
          <a:bodyPr>
            <a:normAutofit/>
          </a:bodyPr>
          <a:lstStyle/>
          <a:p>
            <a:pPr algn="just"/>
            <a:r>
              <a:rPr lang="en-GB" sz="1100" dirty="0">
                <a:latin typeface="Century Gothic" panose="020B0502020202020204" pitchFamily="34" charset="0"/>
              </a:rPr>
              <a:t>This charming restaurant offers a delightful blend of Omani and Middle Eastern cuisine in a beautifully decorated setting.</a:t>
            </a:r>
            <a:endParaRPr lang="de-AT" sz="1800" dirty="0">
              <a:latin typeface="Century Gothic" panose="020B0502020202020204" pitchFamily="34" charset="0"/>
            </a:endParaRPr>
          </a:p>
        </p:txBody>
      </p:sp>
      <p:sp>
        <p:nvSpPr>
          <p:cNvPr id="6" name="Textplatzhalter 5">
            <a:extLst>
              <a:ext uri="{FF2B5EF4-FFF2-40B4-BE49-F238E27FC236}">
                <a16:creationId xmlns:a16="http://schemas.microsoft.com/office/drawing/2014/main" id="{4AE8C189-DBC2-B5E0-59DF-05787991634D}"/>
              </a:ext>
            </a:extLst>
          </p:cNvPr>
          <p:cNvSpPr>
            <a:spLocks noGrp="1"/>
          </p:cNvSpPr>
          <p:nvPr>
            <p:ph type="body" sz="quarter" idx="13"/>
          </p:nvPr>
        </p:nvSpPr>
        <p:spPr>
          <a:xfrm>
            <a:off x="7537762" y="2247394"/>
            <a:ext cx="1606234" cy="217442"/>
          </a:xfrm>
        </p:spPr>
        <p:txBody>
          <a:bodyPr>
            <a:normAutofit/>
          </a:bodyPr>
          <a:lstStyle/>
          <a:p>
            <a:r>
              <a:rPr lang="de-AT" dirty="0">
                <a:latin typeface="Century Gothic" panose="020B0502020202020204" pitchFamily="34" charset="0"/>
              </a:rPr>
              <a:t>Omani &amp; Middle-Eastern</a:t>
            </a:r>
          </a:p>
        </p:txBody>
      </p:sp>
      <p:sp>
        <p:nvSpPr>
          <p:cNvPr id="7" name="Textplatzhalter 6">
            <a:extLst>
              <a:ext uri="{FF2B5EF4-FFF2-40B4-BE49-F238E27FC236}">
                <a16:creationId xmlns:a16="http://schemas.microsoft.com/office/drawing/2014/main" id="{6D484D50-7219-FADD-4600-2DFF9DE244F2}"/>
              </a:ext>
            </a:extLst>
          </p:cNvPr>
          <p:cNvSpPr>
            <a:spLocks noGrp="1"/>
          </p:cNvSpPr>
          <p:nvPr>
            <p:ph type="body" sz="quarter" idx="14"/>
          </p:nvPr>
        </p:nvSpPr>
        <p:spPr>
          <a:xfrm>
            <a:off x="7537762" y="2590202"/>
            <a:ext cx="1606238" cy="217442"/>
          </a:xfrm>
        </p:spPr>
        <p:txBody>
          <a:bodyPr>
            <a:normAutofit/>
          </a:bodyPr>
          <a:lstStyle/>
          <a:p>
            <a:r>
              <a:rPr lang="de-AT" dirty="0">
                <a:latin typeface="Century Gothic" panose="020B0502020202020204" pitchFamily="34" charset="0"/>
              </a:rPr>
              <a:t>Al Mouj Marina</a:t>
            </a:r>
          </a:p>
        </p:txBody>
      </p:sp>
      <p:sp>
        <p:nvSpPr>
          <p:cNvPr id="8" name="Textplatzhalter 7">
            <a:extLst>
              <a:ext uri="{FF2B5EF4-FFF2-40B4-BE49-F238E27FC236}">
                <a16:creationId xmlns:a16="http://schemas.microsoft.com/office/drawing/2014/main" id="{B7CB07C8-AFA6-EFB5-8C2C-FA5084CFBC95}"/>
              </a:ext>
            </a:extLst>
          </p:cNvPr>
          <p:cNvSpPr>
            <a:spLocks noGrp="1"/>
          </p:cNvSpPr>
          <p:nvPr>
            <p:ph type="body" sz="quarter" idx="15"/>
          </p:nvPr>
        </p:nvSpPr>
        <p:spPr>
          <a:xfrm>
            <a:off x="7537762" y="2931085"/>
            <a:ext cx="1606238" cy="217442"/>
          </a:xfrm>
        </p:spPr>
        <p:txBody>
          <a:bodyPr>
            <a:normAutofit/>
          </a:bodyPr>
          <a:lstStyle/>
          <a:p>
            <a:r>
              <a:rPr lang="de-AT" dirty="0" err="1">
                <a:latin typeface="Century Gothic" panose="020B0502020202020204" pitchFamily="34" charset="0"/>
                <a:cs typeface="Lucida Sans Unicode" panose="020B0602030504020204" pitchFamily="34" charset="0"/>
              </a:rPr>
              <a:t>Available</a:t>
            </a:r>
            <a:endParaRPr lang="de-AT" dirty="0">
              <a:latin typeface="Century Gothic" panose="020B0502020202020204" pitchFamily="34" charset="0"/>
              <a:cs typeface="Lucida Sans Unicode" panose="020B0602030504020204" pitchFamily="34" charset="0"/>
            </a:endParaRPr>
          </a:p>
        </p:txBody>
      </p:sp>
      <p:sp>
        <p:nvSpPr>
          <p:cNvPr id="9" name="Textplatzhalter 8">
            <a:extLst>
              <a:ext uri="{FF2B5EF4-FFF2-40B4-BE49-F238E27FC236}">
                <a16:creationId xmlns:a16="http://schemas.microsoft.com/office/drawing/2014/main" id="{E5FAB7C6-C299-4A81-DD68-0A971A58E99D}"/>
              </a:ext>
            </a:extLst>
          </p:cNvPr>
          <p:cNvSpPr>
            <a:spLocks noGrp="1"/>
          </p:cNvSpPr>
          <p:nvPr>
            <p:ph type="body" sz="quarter" idx="16"/>
          </p:nvPr>
        </p:nvSpPr>
        <p:spPr>
          <a:xfrm>
            <a:off x="7537762" y="3286909"/>
            <a:ext cx="1606238" cy="563210"/>
          </a:xfrm>
        </p:spPr>
        <p:txBody>
          <a:bodyPr/>
          <a:lstStyle/>
          <a:p>
            <a:r>
              <a:rPr lang="de-AT" dirty="0">
                <a:latin typeface="Century Gothic" panose="020B0502020202020204" pitchFamily="34" charset="0"/>
              </a:rPr>
              <a:t>60-70</a:t>
            </a:r>
          </a:p>
        </p:txBody>
      </p:sp>
      <p:pic>
        <p:nvPicPr>
          <p:cNvPr id="5122" name="Picture 2" descr="Very good - Reviews, Photos - Bait Al Yasmine - Tripadvisor">
            <a:extLst>
              <a:ext uri="{FF2B5EF4-FFF2-40B4-BE49-F238E27FC236}">
                <a16:creationId xmlns:a16="http://schemas.microsoft.com/office/drawing/2014/main" id="{A4F1028E-252B-49BF-F849-628EF924C8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1" t="8135" r="79" b="3447"/>
          <a:stretch>
            <a:fillRect/>
          </a:stretch>
        </p:blipFill>
        <p:spPr bwMode="auto">
          <a:xfrm>
            <a:off x="1" y="2517834"/>
            <a:ext cx="3810000" cy="264999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BAIT AL YASMINE, Muscat - Menu, Prices &amp; Restaurant Reviews - Tripadvisor">
            <a:extLst>
              <a:ext uri="{FF2B5EF4-FFF2-40B4-BE49-F238E27FC236}">
                <a16:creationId xmlns:a16="http://schemas.microsoft.com/office/drawing/2014/main" id="{1CB624C8-B61F-657B-ECED-BEF03DE4BF5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4125"/>
          <a:stretch>
            <a:fillRect/>
          </a:stretch>
        </p:blipFill>
        <p:spPr bwMode="auto">
          <a:xfrm>
            <a:off x="0" y="0"/>
            <a:ext cx="3810001" cy="24648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BAIT AL YASMINE, Muscat - Menu, Prices &amp; Restaurant Reviews - Tripadvisor">
            <a:extLst>
              <a:ext uri="{FF2B5EF4-FFF2-40B4-BE49-F238E27FC236}">
                <a16:creationId xmlns:a16="http://schemas.microsoft.com/office/drawing/2014/main" id="{F221D6A3-CB7D-11CC-145E-62ECEDB762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266018"/>
            <a:ext cx="3565095" cy="2397635"/>
          </a:xfrm>
          <a:prstGeom prst="rect">
            <a:avLst/>
          </a:prstGeom>
          <a:solidFill>
            <a:srgbClr val="FFFFFF">
              <a:shade val="85000"/>
            </a:srgbClr>
          </a:solidFill>
          <a:ln w="5715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107591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7377B-E7FF-A512-C6C4-4A5E8BE01B9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64395202-C7C8-4FC5-B66B-8A87ED4FF51F}"/>
              </a:ext>
            </a:extLst>
          </p:cNvPr>
          <p:cNvSpPr>
            <a:spLocks noGrp="1"/>
          </p:cNvSpPr>
          <p:nvPr>
            <p:ph type="title"/>
          </p:nvPr>
        </p:nvSpPr>
        <p:spPr/>
        <p:txBody>
          <a:bodyPr>
            <a:noAutofit/>
          </a:bodyPr>
          <a:lstStyle/>
          <a:p>
            <a:r>
              <a:rPr lang="de-AT" sz="1800" dirty="0">
                <a:latin typeface="Century Gothic" panose="020B0502020202020204" pitchFamily="34" charset="0"/>
              </a:rPr>
              <a:t>Day 2 City-Orientation of Muscat</a:t>
            </a:r>
          </a:p>
        </p:txBody>
      </p:sp>
    </p:spTree>
    <p:extLst>
      <p:ext uri="{BB962C8B-B14F-4D97-AF65-F5344CB8AC3E}">
        <p14:creationId xmlns:p14="http://schemas.microsoft.com/office/powerpoint/2010/main" val="2357933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821CB-78BC-4C51-B1D5-AF6BEFAEEF6C}"/>
            </a:ext>
          </a:extLst>
        </p:cNvPr>
        <p:cNvGrpSpPr/>
        <p:nvPr/>
      </p:nvGrpSpPr>
      <p:grpSpPr>
        <a:xfrm>
          <a:off x="0" y="0"/>
          <a:ext cx="0" cy="0"/>
          <a:chOff x="0" y="0"/>
          <a:chExt cx="0" cy="0"/>
        </a:xfrm>
      </p:grpSpPr>
      <p:sp>
        <p:nvSpPr>
          <p:cNvPr id="2" name="Titel 2">
            <a:extLst>
              <a:ext uri="{FF2B5EF4-FFF2-40B4-BE49-F238E27FC236}">
                <a16:creationId xmlns:a16="http://schemas.microsoft.com/office/drawing/2014/main" id="{7ABC9715-92DA-7603-66BE-65B33C2A65E9}"/>
              </a:ext>
            </a:extLst>
          </p:cNvPr>
          <p:cNvSpPr txBox="1">
            <a:spLocks/>
          </p:cNvSpPr>
          <p:nvPr/>
        </p:nvSpPr>
        <p:spPr>
          <a:xfrm>
            <a:off x="2512601" y="3028950"/>
            <a:ext cx="4107463" cy="633050"/>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4400" b="1" kern="1200">
                <a:solidFill>
                  <a:schemeClr val="tx1">
                    <a:lumMod val="65000"/>
                    <a:lumOff val="35000"/>
                  </a:schemeClr>
                </a:solidFill>
                <a:latin typeface="+mj-lt"/>
                <a:ea typeface="+mj-ea"/>
                <a:cs typeface="+mj-cs"/>
              </a:defRPr>
            </a:lvl1pPr>
          </a:lstStyle>
          <a:p>
            <a:pPr algn="ctr"/>
            <a:r>
              <a:rPr lang="en-IN" sz="1800" dirty="0">
                <a:latin typeface="Century Gothic" panose="020B0502020202020204" pitchFamily="34" charset="0"/>
              </a:rPr>
              <a:t>Visit Sultan Qaboos Grand Mosque</a:t>
            </a:r>
            <a:endParaRPr lang="de-AT" sz="1800" dirty="0">
              <a:latin typeface="Century Gothic" panose="020B0502020202020204" pitchFamily="34" charset="0"/>
            </a:endParaRPr>
          </a:p>
        </p:txBody>
      </p:sp>
      <p:sp>
        <p:nvSpPr>
          <p:cNvPr id="5" name="Untertitel 4">
            <a:extLst>
              <a:ext uri="{FF2B5EF4-FFF2-40B4-BE49-F238E27FC236}">
                <a16:creationId xmlns:a16="http://schemas.microsoft.com/office/drawing/2014/main" id="{5CAE557D-1CAC-C453-BE95-BE558DB9CEF1}"/>
              </a:ext>
            </a:extLst>
          </p:cNvPr>
          <p:cNvSpPr txBox="1">
            <a:spLocks/>
          </p:cNvSpPr>
          <p:nvPr/>
        </p:nvSpPr>
        <p:spPr>
          <a:xfrm>
            <a:off x="304800" y="3759679"/>
            <a:ext cx="8523066" cy="5418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400" dirty="0">
                <a:latin typeface="Century Gothic" panose="020B0502020202020204" pitchFamily="34" charset="0"/>
              </a:rPr>
              <a:t>The Sultan Qaboos Grand Mosque in Muscat is a stunning architectural masterpiece. With its towering minarets, intricate Islamic designs, and the world’s second-largest handwoven carpet, it reflects Oman’s rich heritage. The serene ambiance, majestic chandeliers, and sprawling marble courtyards make it a must-visit spiritual and cultural landmark.</a:t>
            </a:r>
            <a:endParaRPr lang="de-AT" sz="1400" dirty="0">
              <a:latin typeface="Century Gothic" panose="020B0502020202020204" pitchFamily="34" charset="0"/>
            </a:endParaRPr>
          </a:p>
        </p:txBody>
      </p:sp>
      <p:pic>
        <p:nvPicPr>
          <p:cNvPr id="7170" name="Picture 2" descr="Visit Sultan Qaboos Grand Mosque of Sohar Oman — ABU BAKAR PHOTOGRAPHY">
            <a:extLst>
              <a:ext uri="{FF2B5EF4-FFF2-40B4-BE49-F238E27FC236}">
                <a16:creationId xmlns:a16="http://schemas.microsoft.com/office/drawing/2014/main" id="{4369F983-BC2A-C64C-AB60-1528D9FBD9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8729"/>
            <a:ext cx="3352800" cy="2237041"/>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Sultan Qaboos Grand Mosque, Muscat: An Iconic Architectural Wonder">
            <a:extLst>
              <a:ext uri="{FF2B5EF4-FFF2-40B4-BE49-F238E27FC236}">
                <a16:creationId xmlns:a16="http://schemas.microsoft.com/office/drawing/2014/main" id="{34BB12AE-0475-C693-DFCF-320BEB2D92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1279" y="648729"/>
            <a:ext cx="2982721" cy="2237041"/>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Sultan Qaboos Grand Mosque, Muscat: An Iconic Architectural Wonder">
            <a:extLst>
              <a:ext uri="{FF2B5EF4-FFF2-40B4-BE49-F238E27FC236}">
                <a16:creationId xmlns:a16="http://schemas.microsoft.com/office/drawing/2014/main" id="{8C7A1CAE-E14F-C957-9949-D5B7A69CCB5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9275" y="285750"/>
            <a:ext cx="4725449" cy="2953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898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E64A-F0F6-B76F-0A81-B051D0472B0B}"/>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E927A5C4-B4FC-EC36-ECA9-170BB5E7D178}"/>
              </a:ext>
            </a:extLst>
          </p:cNvPr>
          <p:cNvSpPr>
            <a:spLocks noGrp="1"/>
          </p:cNvSpPr>
          <p:nvPr>
            <p:ph type="ctrTitle"/>
          </p:nvPr>
        </p:nvSpPr>
        <p:spPr>
          <a:xfrm>
            <a:off x="6618632" y="1200150"/>
            <a:ext cx="2412392" cy="633050"/>
          </a:xfrm>
        </p:spPr>
        <p:txBody>
          <a:bodyPr>
            <a:noAutofit/>
          </a:bodyPr>
          <a:lstStyle/>
          <a:p>
            <a:r>
              <a:rPr lang="en-IN" sz="1800" dirty="0">
                <a:solidFill>
                  <a:schemeClr val="tx1">
                    <a:lumMod val="75000"/>
                    <a:lumOff val="25000"/>
                  </a:schemeClr>
                </a:solidFill>
                <a:latin typeface="Century Gothic" panose="020B0502020202020204" pitchFamily="34" charset="0"/>
              </a:rPr>
              <a:t>Explore the National Museum</a:t>
            </a:r>
            <a:endParaRPr lang="de-AT" sz="1800" dirty="0">
              <a:solidFill>
                <a:schemeClr val="tx1">
                  <a:lumMod val="75000"/>
                  <a:lumOff val="25000"/>
                </a:schemeClr>
              </a:solidFill>
              <a:latin typeface="Century Gothic" panose="020B0502020202020204" pitchFamily="34" charset="0"/>
            </a:endParaRPr>
          </a:p>
        </p:txBody>
      </p:sp>
      <p:sp>
        <p:nvSpPr>
          <p:cNvPr id="20" name="Untertitel 4">
            <a:extLst>
              <a:ext uri="{FF2B5EF4-FFF2-40B4-BE49-F238E27FC236}">
                <a16:creationId xmlns:a16="http://schemas.microsoft.com/office/drawing/2014/main" id="{DB376FA6-FBE6-7193-4B69-728982EAEFD9}"/>
              </a:ext>
            </a:extLst>
          </p:cNvPr>
          <p:cNvSpPr txBox="1">
            <a:spLocks/>
          </p:cNvSpPr>
          <p:nvPr/>
        </p:nvSpPr>
        <p:spPr>
          <a:xfrm>
            <a:off x="6553200" y="1858914"/>
            <a:ext cx="2412392" cy="19610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1400" dirty="0">
                <a:latin typeface="Century Gothic" panose="020B0502020202020204" pitchFamily="34" charset="0"/>
              </a:rPr>
              <a:t>The National Museum of Muscat showcases Oman’s rich heritage through artifacts, manuscripts, and interactive exhibits. Its modern design blends tradition with innovation, featuring ancient weaponry, traditional costumes, and maritime history. A cultural gem, it offers deep insights into Oman’s past.</a:t>
            </a:r>
            <a:endParaRPr lang="de-AT" sz="1400" dirty="0">
              <a:latin typeface="Century Gothic" panose="020B0502020202020204" pitchFamily="34" charset="0"/>
            </a:endParaRPr>
          </a:p>
        </p:txBody>
      </p:sp>
      <p:pic>
        <p:nvPicPr>
          <p:cNvPr id="8194" name="Picture 2" descr="The National Museum - Sultanate of Oman">
            <a:extLst>
              <a:ext uri="{FF2B5EF4-FFF2-40B4-BE49-F238E27FC236}">
                <a16:creationId xmlns:a16="http://schemas.microsoft.com/office/drawing/2014/main" id="{599982A4-D8AB-DE0A-EE05-65111F265C4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333" t="12903" r="14285"/>
          <a:stretch>
            <a:fillRect/>
          </a:stretch>
        </p:blipFill>
        <p:spPr bwMode="auto">
          <a:xfrm>
            <a:off x="0" y="2571750"/>
            <a:ext cx="3799585" cy="25717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Natural History Museum in Oman">
            <a:extLst>
              <a:ext uri="{FF2B5EF4-FFF2-40B4-BE49-F238E27FC236}">
                <a16:creationId xmlns:a16="http://schemas.microsoft.com/office/drawing/2014/main" id="{603450ED-AD5F-45FF-696A-AA05942C7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 y="0"/>
            <a:ext cx="3796537" cy="2519951"/>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THE NATIONAL MUSEUM (2025) All You Need to Know BEFORE You Go (with Photos)  - Tripadvisor">
            <a:extLst>
              <a:ext uri="{FF2B5EF4-FFF2-40B4-BE49-F238E27FC236}">
                <a16:creationId xmlns:a16="http://schemas.microsoft.com/office/drawing/2014/main" id="{73BC2FF8-58DE-9450-48AF-96B56220EB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9792" y="1311774"/>
            <a:ext cx="4535914" cy="251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033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E671D-D4D3-B54C-25F6-18BCB2DE367C}"/>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4C57EF4C-1726-B6CF-BA06-22363FE77A4A}"/>
              </a:ext>
            </a:extLst>
          </p:cNvPr>
          <p:cNvSpPr>
            <a:spLocks noGrp="1"/>
          </p:cNvSpPr>
          <p:nvPr>
            <p:ph type="ctrTitle"/>
          </p:nvPr>
        </p:nvSpPr>
        <p:spPr>
          <a:xfrm>
            <a:off x="1250135" y="3562350"/>
            <a:ext cx="6643728" cy="883465"/>
          </a:xfrm>
        </p:spPr>
        <p:txBody>
          <a:bodyPr>
            <a:noAutofit/>
          </a:bodyPr>
          <a:lstStyle/>
          <a:p>
            <a:pPr algn="ctr"/>
            <a:r>
              <a:rPr lang="en-GB" sz="1800" dirty="0">
                <a:solidFill>
                  <a:schemeClr val="tx1">
                    <a:lumMod val="75000"/>
                    <a:lumOff val="25000"/>
                  </a:schemeClr>
                </a:solidFill>
                <a:latin typeface="Century Gothic" panose="020B0502020202020204" pitchFamily="34" charset="0"/>
              </a:rPr>
              <a:t>Photo stop at </a:t>
            </a:r>
            <a:br>
              <a:rPr lang="en-GB" sz="1800" dirty="0">
                <a:solidFill>
                  <a:schemeClr val="tx1">
                    <a:lumMod val="75000"/>
                    <a:lumOff val="25000"/>
                  </a:schemeClr>
                </a:solidFill>
                <a:latin typeface="Century Gothic" panose="020B0502020202020204" pitchFamily="34" charset="0"/>
              </a:rPr>
            </a:br>
            <a:r>
              <a:rPr lang="en-GB" sz="1800" dirty="0">
                <a:solidFill>
                  <a:schemeClr val="tx1">
                    <a:lumMod val="75000"/>
                    <a:lumOff val="25000"/>
                  </a:schemeClr>
                </a:solidFill>
                <a:latin typeface="Century Gothic" panose="020B0502020202020204" pitchFamily="34" charset="0"/>
              </a:rPr>
              <a:t>Al Alam Palace, flanked by Mirani and Jalali Forts</a:t>
            </a:r>
            <a:endParaRPr lang="de-AT" sz="1800" dirty="0">
              <a:solidFill>
                <a:schemeClr val="tx1">
                  <a:lumMod val="75000"/>
                  <a:lumOff val="25000"/>
                </a:schemeClr>
              </a:solidFill>
              <a:latin typeface="Century Gothic" panose="020B0502020202020204" pitchFamily="34" charset="0"/>
            </a:endParaRPr>
          </a:p>
        </p:txBody>
      </p:sp>
      <p:pic>
        <p:nvPicPr>
          <p:cNvPr id="9222" name="Picture 6" descr="AL JAHILI FORT (2025) All You Need to Know BEFORE You Go (with Photos) -  Tripadvisor">
            <a:extLst>
              <a:ext uri="{FF2B5EF4-FFF2-40B4-BE49-F238E27FC236}">
                <a16:creationId xmlns:a16="http://schemas.microsoft.com/office/drawing/2014/main" id="{243BB311-1EE1-684A-D1D4-2E5C952616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94"/>
          <a:stretch>
            <a:fillRect/>
          </a:stretch>
        </p:blipFill>
        <p:spPr bwMode="auto">
          <a:xfrm>
            <a:off x="0" y="1003450"/>
            <a:ext cx="3486150" cy="2190750"/>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MIRANI FORT (2025) All You Need to Know BEFORE You Go (with Photos) -  Tripadvisor">
            <a:extLst>
              <a:ext uri="{FF2B5EF4-FFF2-40B4-BE49-F238E27FC236}">
                <a16:creationId xmlns:a16="http://schemas.microsoft.com/office/drawing/2014/main" id="{43BB68DA-BE52-1E26-EF88-DE0B6DDCE1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406"/>
          <a:stretch>
            <a:fillRect/>
          </a:stretch>
        </p:blipFill>
        <p:spPr bwMode="auto">
          <a:xfrm>
            <a:off x="6096000" y="1003450"/>
            <a:ext cx="3048000" cy="218509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Best Al Alam Palace (Sultan's Palace) Tours &amp; Tickets - Book Now">
            <a:extLst>
              <a:ext uri="{FF2B5EF4-FFF2-40B4-BE49-F238E27FC236}">
                <a16:creationId xmlns:a16="http://schemas.microsoft.com/office/drawing/2014/main" id="{F44443B2-4C56-333A-0E63-6D0C4010E9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1513" y="399310"/>
            <a:ext cx="4640973" cy="323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865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1FB5-8FF9-8B9C-6B32-F857AE1215AA}"/>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3B843C91-C80C-F663-6B4A-5C1ADBB67C63}"/>
              </a:ext>
            </a:extLst>
          </p:cNvPr>
          <p:cNvSpPr>
            <a:spLocks noGrp="1"/>
          </p:cNvSpPr>
          <p:nvPr>
            <p:ph type="ctrTitle"/>
          </p:nvPr>
        </p:nvSpPr>
        <p:spPr>
          <a:xfrm>
            <a:off x="6705600" y="1471612"/>
            <a:ext cx="2209800" cy="2200275"/>
          </a:xfrm>
        </p:spPr>
        <p:txBody>
          <a:bodyPr>
            <a:noAutofit/>
          </a:bodyPr>
          <a:lstStyle/>
          <a:p>
            <a:r>
              <a:rPr lang="en-GB" sz="1800" dirty="0">
                <a:solidFill>
                  <a:schemeClr val="tx1">
                    <a:lumMod val="75000"/>
                    <a:lumOff val="25000"/>
                  </a:schemeClr>
                </a:solidFill>
                <a:latin typeface="Century Gothic" panose="020B0502020202020204" pitchFamily="34" charset="0"/>
              </a:rPr>
              <a:t>Drive along the Corniche and stop at </a:t>
            </a:r>
            <a:r>
              <a:rPr lang="en-GB" sz="1800" dirty="0" err="1">
                <a:solidFill>
                  <a:schemeClr val="tx1">
                    <a:lumMod val="75000"/>
                    <a:lumOff val="25000"/>
                  </a:schemeClr>
                </a:solidFill>
                <a:latin typeface="Century Gothic" panose="020B0502020202020204" pitchFamily="34" charset="0"/>
              </a:rPr>
              <a:t>Muttrah</a:t>
            </a:r>
            <a:r>
              <a:rPr lang="en-GB" sz="1800" dirty="0">
                <a:solidFill>
                  <a:schemeClr val="tx1">
                    <a:lumMod val="75000"/>
                    <a:lumOff val="25000"/>
                  </a:schemeClr>
                </a:solidFill>
                <a:latin typeface="Century Gothic" panose="020B0502020202020204" pitchFamily="34" charset="0"/>
              </a:rPr>
              <a:t> Souk followed by Lunch at a Local Restaurant</a:t>
            </a:r>
            <a:endParaRPr lang="de-AT" sz="1800" dirty="0">
              <a:solidFill>
                <a:schemeClr val="tx1">
                  <a:lumMod val="75000"/>
                  <a:lumOff val="25000"/>
                </a:schemeClr>
              </a:solidFill>
              <a:latin typeface="Century Gothic" panose="020B0502020202020204" pitchFamily="34" charset="0"/>
            </a:endParaRPr>
          </a:p>
        </p:txBody>
      </p:sp>
      <p:pic>
        <p:nvPicPr>
          <p:cNvPr id="10242" name="Picture 2" descr="Muttrah Souq in Muttrah | Expedia.co.in">
            <a:extLst>
              <a:ext uri="{FF2B5EF4-FFF2-40B4-BE49-F238E27FC236}">
                <a16:creationId xmlns:a16="http://schemas.microsoft.com/office/drawing/2014/main" id="{DCD96200-DCDE-071D-EFC8-D24B610C480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0000"/>
          <a:stretch>
            <a:fillRect/>
          </a:stretch>
        </p:blipFill>
        <p:spPr bwMode="auto">
          <a:xfrm>
            <a:off x="0" y="2571750"/>
            <a:ext cx="36576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Muttrah Souk, Muscat - TimesTravel">
            <a:extLst>
              <a:ext uri="{FF2B5EF4-FFF2-40B4-BE49-F238E27FC236}">
                <a16:creationId xmlns:a16="http://schemas.microsoft.com/office/drawing/2014/main" id="{1912EEE3-9F1D-FFAB-B464-A236227A22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0"/>
            <a:ext cx="3627532" cy="241935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Mutrah Corniche, Muscat: How To Reach, Best Time &amp; Tips">
            <a:extLst>
              <a:ext uri="{FF2B5EF4-FFF2-40B4-BE49-F238E27FC236}">
                <a16:creationId xmlns:a16="http://schemas.microsoft.com/office/drawing/2014/main" id="{175F181C-847C-248A-D72F-B8DA5B69D65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43583" y="1248537"/>
            <a:ext cx="3856833" cy="2571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721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CE871-E31B-8632-FA67-D4F4199A476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6EB3E08-C047-5521-87A0-DAD34B554409}"/>
              </a:ext>
            </a:extLst>
          </p:cNvPr>
          <p:cNvSpPr>
            <a:spLocks noGrp="1"/>
          </p:cNvSpPr>
          <p:nvPr>
            <p:ph type="title"/>
          </p:nvPr>
        </p:nvSpPr>
        <p:spPr/>
        <p:txBody>
          <a:bodyPr>
            <a:noAutofit/>
          </a:bodyPr>
          <a:lstStyle/>
          <a:p>
            <a:r>
              <a:rPr lang="de-AT" sz="2100" dirty="0">
                <a:latin typeface="Century Gothic" panose="020B0502020202020204" pitchFamily="34" charset="0"/>
              </a:rPr>
              <a:t>Day 3 Nizwa</a:t>
            </a:r>
          </a:p>
        </p:txBody>
      </p:sp>
    </p:spTree>
    <p:extLst>
      <p:ext uri="{BB962C8B-B14F-4D97-AF65-F5344CB8AC3E}">
        <p14:creationId xmlns:p14="http://schemas.microsoft.com/office/powerpoint/2010/main" val="679066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000CF-A1B4-56F0-DF37-0F01753EE76B}"/>
            </a:ext>
          </a:extLst>
        </p:cNvPr>
        <p:cNvGrpSpPr/>
        <p:nvPr/>
      </p:nvGrpSpPr>
      <p:grpSpPr>
        <a:xfrm>
          <a:off x="0" y="0"/>
          <a:ext cx="0" cy="0"/>
          <a:chOff x="0" y="0"/>
          <a:chExt cx="0" cy="0"/>
        </a:xfrm>
      </p:grpSpPr>
      <p:sp>
        <p:nvSpPr>
          <p:cNvPr id="21" name="Inhaltsplatzhalter 3">
            <a:extLst>
              <a:ext uri="{FF2B5EF4-FFF2-40B4-BE49-F238E27FC236}">
                <a16:creationId xmlns:a16="http://schemas.microsoft.com/office/drawing/2014/main" id="{FA4D3FD8-0107-3119-7C25-ED622EF871C0}"/>
              </a:ext>
            </a:extLst>
          </p:cNvPr>
          <p:cNvSpPr txBox="1">
            <a:spLocks/>
          </p:cNvSpPr>
          <p:nvPr/>
        </p:nvSpPr>
        <p:spPr>
          <a:xfrm>
            <a:off x="4531649" y="2109886"/>
            <a:ext cx="4295775" cy="1614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de-AT" sz="1200" dirty="0">
              <a:solidFill>
                <a:schemeClr val="tx1">
                  <a:lumMod val="75000"/>
                  <a:lumOff val="25000"/>
                </a:schemeClr>
              </a:solidFill>
              <a:latin typeface="Century Gothic" panose="020B0502020202020204" pitchFamily="34" charset="0"/>
            </a:endParaRPr>
          </a:p>
        </p:txBody>
      </p:sp>
      <p:sp>
        <p:nvSpPr>
          <p:cNvPr id="2" name="Titel 2">
            <a:extLst>
              <a:ext uri="{FF2B5EF4-FFF2-40B4-BE49-F238E27FC236}">
                <a16:creationId xmlns:a16="http://schemas.microsoft.com/office/drawing/2014/main" id="{9DDE5A7C-6032-08A6-9633-854797F0B3B3}"/>
              </a:ext>
            </a:extLst>
          </p:cNvPr>
          <p:cNvSpPr txBox="1">
            <a:spLocks/>
          </p:cNvSpPr>
          <p:nvPr/>
        </p:nvSpPr>
        <p:spPr>
          <a:xfrm>
            <a:off x="4724400" y="2383172"/>
            <a:ext cx="4862359" cy="6330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AT" sz="1800" b="1" dirty="0">
                <a:solidFill>
                  <a:schemeClr val="tx1">
                    <a:lumMod val="75000"/>
                    <a:lumOff val="25000"/>
                  </a:schemeClr>
                </a:solidFill>
                <a:latin typeface="Century Gothic" panose="020B0502020202020204" pitchFamily="34" charset="0"/>
              </a:rPr>
              <a:t>NIZWA</a:t>
            </a:r>
          </a:p>
        </p:txBody>
      </p:sp>
      <p:sp>
        <p:nvSpPr>
          <p:cNvPr id="4" name="Rectangle 3">
            <a:extLst>
              <a:ext uri="{FF2B5EF4-FFF2-40B4-BE49-F238E27FC236}">
                <a16:creationId xmlns:a16="http://schemas.microsoft.com/office/drawing/2014/main" id="{7DD55E28-57BD-04F4-2319-8E5F79DAB0DE}"/>
              </a:ext>
            </a:extLst>
          </p:cNvPr>
          <p:cNvSpPr>
            <a:spLocks noChangeArrowheads="1"/>
          </p:cNvSpPr>
          <p:nvPr/>
        </p:nvSpPr>
        <p:spPr bwMode="auto">
          <a:xfrm>
            <a:off x="4727448" y="2602290"/>
            <a:ext cx="403555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altLang="en-US" sz="1200" b="0" i="0" u="none" strike="noStrike" cap="none" normalizeH="0" baseline="0" dirty="0">
              <a:ln>
                <a:noFill/>
              </a:ln>
              <a:solidFill>
                <a:schemeClr val="tx1"/>
              </a:solidFill>
              <a:effectLst/>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chemeClr val="tx1"/>
                </a:solidFill>
                <a:effectLst/>
                <a:latin typeface="Century Gothic" panose="020B0502020202020204" pitchFamily="34" charset="0"/>
              </a:rPr>
              <a:t>Nizwa, Oman’s cultural heart, is famous for its majestic 17th-century fort and bustling souq. Surrounded by mountains and date palms, it offers a glimpse into Oman’s rich heritage. Visitors explore traditional crafts, watch goat auctions, and climb the fort’s towering walls for breathtaking views. A must-visit for history and adventure lovers!</a:t>
            </a:r>
            <a:endParaRPr kumimoji="0" lang="en-US" altLang="en-US" sz="1200" b="0" i="0" u="none" strike="noStrike" cap="none" normalizeH="0" baseline="0" dirty="0">
              <a:ln>
                <a:noFill/>
              </a:ln>
              <a:solidFill>
                <a:schemeClr val="tx1"/>
              </a:solidFill>
              <a:effectLst/>
              <a:latin typeface="Century Gothic" panose="020B0502020202020204" pitchFamily="34" charset="0"/>
            </a:endParaRPr>
          </a:p>
        </p:txBody>
      </p:sp>
      <p:pic>
        <p:nvPicPr>
          <p:cNvPr id="12290" name="Picture 2" descr="Nizwa City | Salalah Safari Tours">
            <a:extLst>
              <a:ext uri="{FF2B5EF4-FFF2-40B4-BE49-F238E27FC236}">
                <a16:creationId xmlns:a16="http://schemas.microsoft.com/office/drawing/2014/main" id="{5B824657-C225-9D93-4728-B7212DF96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 y="0"/>
            <a:ext cx="4605028" cy="460502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12 Nizwa Oman ideas | oman, oman travel, sultanate of oman">
            <a:extLst>
              <a:ext uri="{FF2B5EF4-FFF2-40B4-BE49-F238E27FC236}">
                <a16:creationId xmlns:a16="http://schemas.microsoft.com/office/drawing/2014/main" id="{74752C07-EAFB-1767-3BA9-CB8E6C5656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6187" y="1125855"/>
            <a:ext cx="1743075" cy="2324100"/>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0342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6A52D-6929-9000-1F4C-15D4012FC72A}"/>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8987D9AD-6A0A-F92E-4953-731E97739D08}"/>
              </a:ext>
            </a:extLst>
          </p:cNvPr>
          <p:cNvSpPr>
            <a:spLocks noGrp="1"/>
          </p:cNvSpPr>
          <p:nvPr>
            <p:ph type="ctrTitle"/>
          </p:nvPr>
        </p:nvSpPr>
        <p:spPr>
          <a:xfrm>
            <a:off x="838199" y="3867151"/>
            <a:ext cx="7467600" cy="480650"/>
          </a:xfrm>
        </p:spPr>
        <p:txBody>
          <a:bodyPr>
            <a:noAutofit/>
          </a:bodyPr>
          <a:lstStyle/>
          <a:p>
            <a:pPr algn="ctr"/>
            <a:r>
              <a:rPr lang="de-AT" sz="2400" dirty="0">
                <a:solidFill>
                  <a:schemeClr val="tx1">
                    <a:lumMod val="75000"/>
                    <a:lumOff val="25000"/>
                  </a:schemeClr>
                </a:solidFill>
                <a:latin typeface="Century Gothic" panose="020B0502020202020204" pitchFamily="34" charset="0"/>
              </a:rPr>
              <a:t>InterCity Hotel, Nizwa</a:t>
            </a:r>
          </a:p>
        </p:txBody>
      </p:sp>
      <p:pic>
        <p:nvPicPr>
          <p:cNvPr id="1028" name="Picture 4">
            <a:extLst>
              <a:ext uri="{FF2B5EF4-FFF2-40B4-BE49-F238E27FC236}">
                <a16:creationId xmlns:a16="http://schemas.microsoft.com/office/drawing/2014/main" id="{26DFF4C5-14B6-47A4-D637-835FF2D681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689" r="26075" b="43170"/>
          <a:stretch/>
        </p:blipFill>
        <p:spPr bwMode="auto">
          <a:xfrm>
            <a:off x="4038600" y="4400550"/>
            <a:ext cx="941785" cy="205632"/>
          </a:xfrm>
          <a:prstGeom prst="rect">
            <a:avLst/>
          </a:prstGeom>
          <a:noFill/>
          <a:extLst>
            <a:ext uri="{909E8E84-426E-40DD-AFC4-6F175D3DCCD1}">
              <a14:hiddenFill xmlns:a14="http://schemas.microsoft.com/office/drawing/2010/main">
                <a:solidFill>
                  <a:srgbClr val="FFFFFF"/>
                </a:solidFill>
              </a14:hiddenFill>
            </a:ext>
          </a:extLst>
        </p:spPr>
      </p:pic>
      <p:pic>
        <p:nvPicPr>
          <p:cNvPr id="34822" name="Picture 6" descr="INTERCITYHOTEL NIZWA - Hotel Reviews, Photos, Rate Comparison - Tripadvisor">
            <a:extLst>
              <a:ext uri="{FF2B5EF4-FFF2-40B4-BE49-F238E27FC236}">
                <a16:creationId xmlns:a16="http://schemas.microsoft.com/office/drawing/2014/main" id="{07EB7DCF-8787-D917-EAD9-35F5665947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1300" b="3538"/>
          <a:stretch>
            <a:fillRect/>
          </a:stretch>
        </p:blipFill>
        <p:spPr bwMode="auto">
          <a:xfrm>
            <a:off x="0" y="-3810"/>
            <a:ext cx="9144000" cy="3818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96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6B109-2BE1-EACC-4163-F670652257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06602B-B32C-CFB8-1586-F9320FF9864A}"/>
              </a:ext>
            </a:extLst>
          </p:cNvPr>
          <p:cNvSpPr txBox="1"/>
          <p:nvPr/>
        </p:nvSpPr>
        <p:spPr>
          <a:xfrm>
            <a:off x="6705600" y="3790950"/>
            <a:ext cx="2299607" cy="1200329"/>
          </a:xfrm>
          <a:prstGeom prst="rect">
            <a:avLst/>
          </a:prstGeom>
          <a:noFill/>
        </p:spPr>
        <p:txBody>
          <a:bodyPr wrap="square">
            <a:spAutoFit/>
          </a:bodyPr>
          <a:lstStyle/>
          <a:p>
            <a:pPr algn="just"/>
            <a:r>
              <a:rPr lang="en-GB" sz="1200" dirty="0">
                <a:latin typeface="Century Gothic" panose="020B0502020202020204" pitchFamily="34" charset="0"/>
              </a:rPr>
              <a:t>The </a:t>
            </a:r>
            <a:r>
              <a:rPr lang="en-GB" sz="1200" b="1" dirty="0">
                <a:latin typeface="Century Gothic" panose="020B0502020202020204" pitchFamily="34" charset="0"/>
              </a:rPr>
              <a:t>Intercity Hotel, Nizwa </a:t>
            </a:r>
            <a:r>
              <a:rPr lang="en-GB" sz="1200" dirty="0">
                <a:latin typeface="Century Gothic" panose="020B0502020202020204" pitchFamily="34" charset="0"/>
              </a:rPr>
              <a:t>offers</a:t>
            </a:r>
            <a:r>
              <a:rPr lang="en-GB" sz="1200" b="1" dirty="0">
                <a:latin typeface="Century Gothic" panose="020B0502020202020204" pitchFamily="34" charset="0"/>
              </a:rPr>
              <a:t> 104 rooms.</a:t>
            </a:r>
          </a:p>
          <a:p>
            <a:pPr algn="just"/>
            <a:endParaRPr lang="en-GB" sz="1200" b="1" dirty="0">
              <a:solidFill>
                <a:schemeClr val="tx1">
                  <a:lumMod val="95000"/>
                  <a:lumOff val="5000"/>
                </a:schemeClr>
              </a:solidFill>
              <a:latin typeface="Century Gothic" panose="020B0502020202020204" pitchFamily="34" charset="0"/>
            </a:endParaRPr>
          </a:p>
          <a:p>
            <a:pPr algn="just"/>
            <a:r>
              <a:rPr lang="en-GB" sz="1200" dirty="0">
                <a:solidFill>
                  <a:schemeClr val="tx1">
                    <a:lumMod val="95000"/>
                    <a:lumOff val="5000"/>
                  </a:schemeClr>
                </a:solidFill>
                <a:latin typeface="Century Gothic" panose="020B0502020202020204" pitchFamily="34" charset="0"/>
              </a:rPr>
              <a:t>The size of a room is a</a:t>
            </a:r>
            <a:r>
              <a:rPr lang="en-GB" sz="1200" b="0" i="0" dirty="0">
                <a:solidFill>
                  <a:schemeClr val="tx1">
                    <a:lumMod val="95000"/>
                    <a:lumOff val="5000"/>
                  </a:schemeClr>
                </a:solidFill>
                <a:effectLst/>
                <a:latin typeface="Century Gothic" panose="020B0502020202020204" pitchFamily="34" charset="0"/>
              </a:rPr>
              <a:t>pproximately </a:t>
            </a:r>
            <a:r>
              <a:rPr lang="en-GB" sz="1200" b="1" i="0" dirty="0">
                <a:solidFill>
                  <a:schemeClr val="tx1">
                    <a:lumMod val="95000"/>
                    <a:lumOff val="5000"/>
                  </a:schemeClr>
                </a:solidFill>
                <a:effectLst/>
                <a:latin typeface="Century Gothic" panose="020B0502020202020204" pitchFamily="34" charset="0"/>
              </a:rPr>
              <a:t>28-3</a:t>
            </a:r>
            <a:r>
              <a:rPr lang="en-GB" sz="1200" b="1" dirty="0">
                <a:solidFill>
                  <a:schemeClr val="tx1">
                    <a:lumMod val="95000"/>
                    <a:lumOff val="5000"/>
                  </a:schemeClr>
                </a:solidFill>
                <a:latin typeface="Century Gothic" panose="020B0502020202020204" pitchFamily="34" charset="0"/>
              </a:rPr>
              <a:t>0</a:t>
            </a:r>
            <a:r>
              <a:rPr lang="en-GB" sz="1200" b="1" i="0" dirty="0">
                <a:solidFill>
                  <a:schemeClr val="tx1">
                    <a:lumMod val="95000"/>
                    <a:lumOff val="5000"/>
                  </a:schemeClr>
                </a:solidFill>
                <a:effectLst/>
                <a:latin typeface="Century Gothic" panose="020B0502020202020204" pitchFamily="34" charset="0"/>
              </a:rPr>
              <a:t> square meters.</a:t>
            </a:r>
            <a:endParaRPr lang="en-GB" sz="1200" b="0" i="0" dirty="0">
              <a:solidFill>
                <a:schemeClr val="tx1">
                  <a:lumMod val="95000"/>
                  <a:lumOff val="5000"/>
                </a:schemeClr>
              </a:solidFill>
              <a:effectLst/>
              <a:latin typeface="Century Gothic" panose="020B0502020202020204" pitchFamily="34" charset="0"/>
            </a:endParaRPr>
          </a:p>
        </p:txBody>
      </p:sp>
      <p:pic>
        <p:nvPicPr>
          <p:cNvPr id="33794" name="Picture 2" descr="IntercityHotel Nizwa | H Rewards">
            <a:extLst>
              <a:ext uri="{FF2B5EF4-FFF2-40B4-BE49-F238E27FC236}">
                <a16:creationId xmlns:a16="http://schemas.microsoft.com/office/drawing/2014/main" id="{7053D359-2661-DF7F-5854-0696AF97222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944" t="-193" r="9024" b="193"/>
          <a:stretch>
            <a:fillRect/>
          </a:stretch>
        </p:blipFill>
        <p:spPr bwMode="auto">
          <a:xfrm>
            <a:off x="1" y="-9906"/>
            <a:ext cx="66294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107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E742A-15DC-1789-C731-02BEB9853FCB}"/>
            </a:ext>
          </a:extLst>
        </p:cNvPr>
        <p:cNvGrpSpPr/>
        <p:nvPr/>
      </p:nvGrpSpPr>
      <p:grpSpPr>
        <a:xfrm>
          <a:off x="0" y="0"/>
          <a:ext cx="0" cy="0"/>
          <a:chOff x="0" y="0"/>
          <a:chExt cx="0" cy="0"/>
        </a:xfrm>
      </p:grpSpPr>
      <p:sp>
        <p:nvSpPr>
          <p:cNvPr id="6" name="AutoShape 4" descr="Leonardo Royal Hotel Baden-Baden | Baden-Baden 2020 UPDATED DEALS ₹8827, HD  Photos &amp; Reviews">
            <a:extLst>
              <a:ext uri="{FF2B5EF4-FFF2-40B4-BE49-F238E27FC236}">
                <a16:creationId xmlns:a16="http://schemas.microsoft.com/office/drawing/2014/main" id="{AED88147-C8AC-E5FF-CF0E-9C8D04F67D4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2770" name="Picture 2" descr="IntercityHotel Nizwa, Oman - Photos, Room Rates &amp; Promotions">
            <a:extLst>
              <a:ext uri="{FF2B5EF4-FFF2-40B4-BE49-F238E27FC236}">
                <a16:creationId xmlns:a16="http://schemas.microsoft.com/office/drawing/2014/main" id="{DF1321DF-C2F4-BED9-3FE7-45F4D69879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366"/>
          <a:stretch>
            <a:fillRect/>
          </a:stretch>
        </p:blipFill>
        <p:spPr bwMode="auto">
          <a:xfrm>
            <a:off x="4648199" y="1"/>
            <a:ext cx="4495801"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IntercityHotel Nizwa Pool: Pictures &amp; Reviews - Tripadvisor">
            <a:extLst>
              <a:ext uri="{FF2B5EF4-FFF2-40B4-BE49-F238E27FC236}">
                <a16:creationId xmlns:a16="http://schemas.microsoft.com/office/drawing/2014/main" id="{EBC515E0-C3AD-14ED-C599-37BCD2C3E0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686"/>
          <a:stretch>
            <a:fillRect/>
          </a:stretch>
        </p:blipFill>
        <p:spPr bwMode="auto">
          <a:xfrm>
            <a:off x="0" y="0"/>
            <a:ext cx="45720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2774" name="Picture 6" descr="INTERCITYHOTEL NIZWA BY DEUTSCHE HOSPITALITY | BOOK NOW &amp; SAVE ON YOUR STAY  IN NIZWA">
            <a:extLst>
              <a:ext uri="{FF2B5EF4-FFF2-40B4-BE49-F238E27FC236}">
                <a16:creationId xmlns:a16="http://schemas.microsoft.com/office/drawing/2014/main" id="{4D1BBECA-6515-110A-7BC6-1D45CBCED30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5302"/>
          <a:stretch>
            <a:fillRect/>
          </a:stretch>
        </p:blipFill>
        <p:spPr bwMode="auto">
          <a:xfrm>
            <a:off x="4648200" y="2647950"/>
            <a:ext cx="4495799" cy="2495550"/>
          </a:xfrm>
          <a:prstGeom prst="rect">
            <a:avLst/>
          </a:prstGeom>
          <a:noFill/>
          <a:extLst>
            <a:ext uri="{909E8E84-426E-40DD-AFC4-6F175D3DCCD1}">
              <a14:hiddenFill xmlns:a14="http://schemas.microsoft.com/office/drawing/2010/main">
                <a:solidFill>
                  <a:srgbClr val="FFFFFF"/>
                </a:solidFill>
              </a14:hiddenFill>
            </a:ext>
          </a:extLst>
        </p:spPr>
      </p:pic>
      <p:pic>
        <p:nvPicPr>
          <p:cNvPr id="32776" name="Picture 8" descr="IntercityHotel Nizwa, Nizwa (updated prices 2025)">
            <a:extLst>
              <a:ext uri="{FF2B5EF4-FFF2-40B4-BE49-F238E27FC236}">
                <a16:creationId xmlns:a16="http://schemas.microsoft.com/office/drawing/2014/main" id="{28FE3214-EE72-00AD-768B-9433520B6AD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8159"/>
          <a:stretch>
            <a:fillRect/>
          </a:stretch>
        </p:blipFill>
        <p:spPr bwMode="auto">
          <a:xfrm>
            <a:off x="1" y="2647950"/>
            <a:ext cx="4572000" cy="2495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778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C4A6E-7916-40DF-3C51-18CF31A4B489}"/>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8314720E-78E3-8EB2-1EB0-F182E345747C}"/>
              </a:ext>
            </a:extLst>
          </p:cNvPr>
          <p:cNvSpPr>
            <a:spLocks noGrp="1"/>
          </p:cNvSpPr>
          <p:nvPr>
            <p:ph type="ctrTitle"/>
          </p:nvPr>
        </p:nvSpPr>
        <p:spPr>
          <a:xfrm>
            <a:off x="6629400" y="-460711"/>
            <a:ext cx="2514600" cy="2385650"/>
          </a:xfrm>
        </p:spPr>
        <p:txBody>
          <a:bodyPr>
            <a:noAutofit/>
          </a:bodyPr>
          <a:lstStyle/>
          <a:p>
            <a:r>
              <a:rPr lang="en-GB" sz="1800" dirty="0">
                <a:solidFill>
                  <a:schemeClr val="tx1">
                    <a:lumMod val="75000"/>
                    <a:lumOff val="25000"/>
                  </a:schemeClr>
                </a:solidFill>
                <a:latin typeface="Century Gothic" panose="020B0502020202020204" pitchFamily="34" charset="0"/>
              </a:rPr>
              <a:t>Visit </a:t>
            </a:r>
            <a:r>
              <a:rPr lang="en-GB" sz="1800" dirty="0" err="1">
                <a:solidFill>
                  <a:schemeClr val="tx1">
                    <a:lumMod val="75000"/>
                    <a:lumOff val="25000"/>
                  </a:schemeClr>
                </a:solidFill>
                <a:latin typeface="Century Gothic" panose="020B0502020202020204" pitchFamily="34" charset="0"/>
              </a:rPr>
              <a:t>Jabreen</a:t>
            </a:r>
            <a:r>
              <a:rPr lang="en-GB" sz="1800" dirty="0">
                <a:solidFill>
                  <a:schemeClr val="tx1">
                    <a:lumMod val="75000"/>
                    <a:lumOff val="25000"/>
                  </a:schemeClr>
                </a:solidFill>
                <a:latin typeface="Century Gothic" panose="020B0502020202020204" pitchFamily="34" charset="0"/>
              </a:rPr>
              <a:t> Castle with its ornate stucco &amp; ceilings</a:t>
            </a:r>
            <a:endParaRPr lang="en-IN" sz="1800" dirty="0">
              <a:solidFill>
                <a:schemeClr val="tx1">
                  <a:lumMod val="75000"/>
                  <a:lumOff val="25000"/>
                </a:schemeClr>
              </a:solidFill>
              <a:latin typeface="Century Gothic" panose="020B0502020202020204" pitchFamily="34" charset="0"/>
            </a:endParaRPr>
          </a:p>
        </p:txBody>
      </p:sp>
      <p:pic>
        <p:nvPicPr>
          <p:cNvPr id="14338" name="Picture 2" descr="Jibreen Castle | IRCICA">
            <a:extLst>
              <a:ext uri="{FF2B5EF4-FFF2-40B4-BE49-F238E27FC236}">
                <a16:creationId xmlns:a16="http://schemas.microsoft.com/office/drawing/2014/main" id="{93BE7AF2-EDE3-E41F-E661-A91EE9CD23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67" t="252" r="24999" b="-252"/>
          <a:stretch>
            <a:fillRect/>
          </a:stretch>
        </p:blipFill>
        <p:spPr bwMode="auto">
          <a:xfrm>
            <a:off x="0" y="0"/>
            <a:ext cx="6477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Untertitel 4">
            <a:extLst>
              <a:ext uri="{FF2B5EF4-FFF2-40B4-BE49-F238E27FC236}">
                <a16:creationId xmlns:a16="http://schemas.microsoft.com/office/drawing/2014/main" id="{56C06835-39FD-E19C-4D1C-FD010967AF6F}"/>
              </a:ext>
            </a:extLst>
          </p:cNvPr>
          <p:cNvSpPr txBox="1">
            <a:spLocks/>
          </p:cNvSpPr>
          <p:nvPr/>
        </p:nvSpPr>
        <p:spPr>
          <a:xfrm>
            <a:off x="6553200" y="2047793"/>
            <a:ext cx="2351432" cy="19717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6985" indent="0" algn="just">
              <a:lnSpc>
                <a:spcPct val="100000"/>
              </a:lnSpc>
              <a:spcBef>
                <a:spcPts val="100"/>
              </a:spcBef>
              <a:buNone/>
            </a:pPr>
            <a:endParaRPr lang="en-GB" sz="1200" dirty="0">
              <a:latin typeface="Century Gothic" panose="020B0502020202020204" pitchFamily="34" charset="0"/>
              <a:cs typeface="Lucida Sans Unicode"/>
            </a:endParaRPr>
          </a:p>
          <a:p>
            <a:pPr marL="0" marR="6985" indent="0" algn="just">
              <a:lnSpc>
                <a:spcPct val="100000"/>
              </a:lnSpc>
              <a:spcBef>
                <a:spcPts val="100"/>
              </a:spcBef>
              <a:buNone/>
            </a:pPr>
            <a:r>
              <a:rPr lang="en-GB" sz="1200" dirty="0" err="1">
                <a:latin typeface="Century Gothic" panose="020B0502020202020204" pitchFamily="34" charset="0"/>
                <a:cs typeface="Lucida Sans Unicode"/>
              </a:rPr>
              <a:t>Jabreen</a:t>
            </a:r>
            <a:r>
              <a:rPr lang="en-GB" sz="1200" dirty="0">
                <a:latin typeface="Century Gothic" panose="020B0502020202020204" pitchFamily="34" charset="0"/>
                <a:cs typeface="Lucida Sans Unicode"/>
              </a:rPr>
              <a:t> Castle, a 17th-century masterpiece, showcases Omani architecture at its finest. Built by Imam </a:t>
            </a:r>
            <a:r>
              <a:rPr lang="en-GB" sz="1200" dirty="0" err="1">
                <a:latin typeface="Century Gothic" panose="020B0502020202020204" pitchFamily="34" charset="0"/>
                <a:cs typeface="Lucida Sans Unicode"/>
              </a:rPr>
              <a:t>Bil’arab</a:t>
            </a:r>
            <a:r>
              <a:rPr lang="en-GB" sz="1200" dirty="0">
                <a:latin typeface="Century Gothic" panose="020B0502020202020204" pitchFamily="34" charset="0"/>
                <a:cs typeface="Lucida Sans Unicode"/>
              </a:rPr>
              <a:t> bin Sultan, its intricate carvings, grand halls, and hidden passages reflect Islamic artistry. Once a seat of learning and governance, it now stands as a historic gem, offering visitors a glimpse into Oman’s rich cultural heritage.</a:t>
            </a:r>
            <a:endParaRPr lang="en-US" sz="1200" dirty="0">
              <a:latin typeface="Century Gothic" panose="020B0502020202020204" pitchFamily="34" charset="0"/>
              <a:cs typeface="Lucida Sans Unicode"/>
            </a:endParaRPr>
          </a:p>
        </p:txBody>
      </p:sp>
    </p:spTree>
    <p:extLst>
      <p:ext uri="{BB962C8B-B14F-4D97-AF65-F5344CB8AC3E}">
        <p14:creationId xmlns:p14="http://schemas.microsoft.com/office/powerpoint/2010/main" val="2716875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58C49-B9EA-AE3D-C11E-E3E5B0CA88BF}"/>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A500CB95-5DEA-3BA0-FBC0-F69E270C0061}"/>
              </a:ext>
            </a:extLst>
          </p:cNvPr>
          <p:cNvSpPr>
            <a:spLocks noGrp="1"/>
          </p:cNvSpPr>
          <p:nvPr>
            <p:ph type="ctrTitle"/>
          </p:nvPr>
        </p:nvSpPr>
        <p:spPr>
          <a:xfrm>
            <a:off x="76200" y="-414057"/>
            <a:ext cx="2514600" cy="2385650"/>
          </a:xfrm>
        </p:spPr>
        <p:txBody>
          <a:bodyPr>
            <a:noAutofit/>
          </a:bodyPr>
          <a:lstStyle/>
          <a:p>
            <a:pPr algn="r"/>
            <a:r>
              <a:rPr lang="en-GB" sz="1800" dirty="0">
                <a:latin typeface="Century Gothic" panose="020B0502020202020204" pitchFamily="34" charset="0"/>
              </a:rPr>
              <a:t>Continue to </a:t>
            </a:r>
            <a:r>
              <a:rPr lang="en-GB" sz="1800" dirty="0" err="1">
                <a:latin typeface="Century Gothic" panose="020B0502020202020204" pitchFamily="34" charset="0"/>
              </a:rPr>
              <a:t>Bahla</a:t>
            </a:r>
            <a:r>
              <a:rPr lang="en-GB" sz="1800" dirty="0">
                <a:latin typeface="Century Gothic" panose="020B0502020202020204" pitchFamily="34" charset="0"/>
              </a:rPr>
              <a:t> Fort (UNESCO site) famous for its pottery for a quick photo stop</a:t>
            </a:r>
            <a:endParaRPr lang="en-IN" sz="1800" dirty="0">
              <a:solidFill>
                <a:schemeClr val="tx1">
                  <a:lumMod val="75000"/>
                  <a:lumOff val="25000"/>
                </a:schemeClr>
              </a:solidFill>
              <a:latin typeface="Century Gothic" panose="020B0502020202020204" pitchFamily="34" charset="0"/>
            </a:endParaRPr>
          </a:p>
        </p:txBody>
      </p:sp>
      <p:sp>
        <p:nvSpPr>
          <p:cNvPr id="2" name="Untertitel 4">
            <a:extLst>
              <a:ext uri="{FF2B5EF4-FFF2-40B4-BE49-F238E27FC236}">
                <a16:creationId xmlns:a16="http://schemas.microsoft.com/office/drawing/2014/main" id="{4937F163-3407-DF81-F4FC-4A091C6A27D6}"/>
              </a:ext>
            </a:extLst>
          </p:cNvPr>
          <p:cNvSpPr txBox="1">
            <a:spLocks/>
          </p:cNvSpPr>
          <p:nvPr/>
        </p:nvSpPr>
        <p:spPr>
          <a:xfrm>
            <a:off x="176784" y="1971593"/>
            <a:ext cx="2514600" cy="19717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6985" indent="0" algn="just">
              <a:lnSpc>
                <a:spcPct val="100000"/>
              </a:lnSpc>
              <a:spcBef>
                <a:spcPts val="100"/>
              </a:spcBef>
              <a:buNone/>
            </a:pPr>
            <a:endParaRPr lang="en-GB" sz="1200" dirty="0">
              <a:latin typeface="Century Gothic" panose="020B0502020202020204" pitchFamily="34" charset="0"/>
              <a:cs typeface="Lucida Sans Unicode"/>
            </a:endParaRPr>
          </a:p>
          <a:p>
            <a:pPr marL="0" marR="6985" indent="0" algn="just">
              <a:lnSpc>
                <a:spcPct val="100000"/>
              </a:lnSpc>
              <a:spcBef>
                <a:spcPts val="100"/>
              </a:spcBef>
              <a:buNone/>
            </a:pPr>
            <a:r>
              <a:rPr lang="en-GB" sz="1200" dirty="0" err="1">
                <a:latin typeface="Century Gothic" panose="020B0502020202020204" pitchFamily="34" charset="0"/>
                <a:cs typeface="Lucida Sans Unicode"/>
              </a:rPr>
              <a:t>Bahla</a:t>
            </a:r>
            <a:r>
              <a:rPr lang="en-GB" sz="1200" dirty="0">
                <a:latin typeface="Century Gothic" panose="020B0502020202020204" pitchFamily="34" charset="0"/>
                <a:cs typeface="Lucida Sans Unicode"/>
              </a:rPr>
              <a:t> Fort, a UNESCO World Heritage Site, is a stunning example of Omani architecture. Nearby, traditional pottery thrives, crafted using ancient techniques passed down for generations. The earthy, hand-shaped clay pots reflect </a:t>
            </a:r>
            <a:r>
              <a:rPr lang="en-GB" sz="1200" dirty="0" err="1">
                <a:latin typeface="Century Gothic" panose="020B0502020202020204" pitchFamily="34" charset="0"/>
                <a:cs typeface="Lucida Sans Unicode"/>
              </a:rPr>
              <a:t>Bahla’s</a:t>
            </a:r>
            <a:r>
              <a:rPr lang="en-GB" sz="1200" dirty="0">
                <a:latin typeface="Century Gothic" panose="020B0502020202020204" pitchFamily="34" charset="0"/>
                <a:cs typeface="Lucida Sans Unicode"/>
              </a:rPr>
              <a:t> rich heritage, blending history and artistry in a timeless craft unique to this historic oasis town.</a:t>
            </a:r>
            <a:endParaRPr lang="en-US" sz="1200" dirty="0">
              <a:latin typeface="Century Gothic" panose="020B0502020202020204" pitchFamily="34" charset="0"/>
              <a:cs typeface="Lucida Sans Unicode"/>
            </a:endParaRPr>
          </a:p>
        </p:txBody>
      </p:sp>
      <p:pic>
        <p:nvPicPr>
          <p:cNvPr id="15364" name="Picture 4" descr="Nizwa Bahla and Jabrin Fort in Muscat | Pelago">
            <a:extLst>
              <a:ext uri="{FF2B5EF4-FFF2-40B4-BE49-F238E27FC236}">
                <a16:creationId xmlns:a16="http://schemas.microsoft.com/office/drawing/2014/main" id="{0E372D8B-0D9F-2901-A6A7-C5866688FA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9"/>
          <a:stretch>
            <a:fillRect/>
          </a:stretch>
        </p:blipFill>
        <p:spPr bwMode="auto">
          <a:xfrm>
            <a:off x="2791968" y="0"/>
            <a:ext cx="6352032"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389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D1C06-1410-CA16-0A9B-12013B8AB399}"/>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B72827C9-29C7-37A3-080F-411E76A2D6D3}"/>
              </a:ext>
            </a:extLst>
          </p:cNvPr>
          <p:cNvSpPr>
            <a:spLocks noGrp="1"/>
          </p:cNvSpPr>
          <p:nvPr>
            <p:ph type="ctrTitle"/>
          </p:nvPr>
        </p:nvSpPr>
        <p:spPr>
          <a:xfrm>
            <a:off x="7162800" y="2571750"/>
            <a:ext cx="2057400" cy="2385650"/>
          </a:xfrm>
        </p:spPr>
        <p:txBody>
          <a:bodyPr>
            <a:noAutofit/>
          </a:bodyPr>
          <a:lstStyle/>
          <a:p>
            <a:r>
              <a:rPr lang="en-US" sz="1800" dirty="0">
                <a:solidFill>
                  <a:schemeClr val="tx1">
                    <a:lumMod val="75000"/>
                    <a:lumOff val="25000"/>
                  </a:schemeClr>
                </a:solidFill>
                <a:latin typeface="Century Gothic" panose="020B0502020202020204" pitchFamily="34" charset="0"/>
              </a:rPr>
              <a:t>Lunch at a Local Restaurant followed by </a:t>
            </a:r>
            <a:br>
              <a:rPr lang="en-US" sz="1800" dirty="0">
                <a:solidFill>
                  <a:schemeClr val="tx1">
                    <a:lumMod val="75000"/>
                    <a:lumOff val="25000"/>
                  </a:schemeClr>
                </a:solidFill>
                <a:latin typeface="Century Gothic" panose="020B0502020202020204" pitchFamily="34" charset="0"/>
              </a:rPr>
            </a:br>
            <a:r>
              <a:rPr lang="en-US" sz="1800" dirty="0">
                <a:solidFill>
                  <a:schemeClr val="tx1">
                    <a:lumMod val="75000"/>
                    <a:lumOff val="25000"/>
                  </a:schemeClr>
                </a:solidFill>
                <a:latin typeface="Century Gothic" panose="020B0502020202020204" pitchFamily="34" charset="0"/>
              </a:rPr>
              <a:t>Check-in at the hotel in Nizwa</a:t>
            </a:r>
            <a:endParaRPr lang="en-IN" sz="1800" dirty="0">
              <a:solidFill>
                <a:schemeClr val="tx1">
                  <a:lumMod val="75000"/>
                  <a:lumOff val="25000"/>
                </a:schemeClr>
              </a:solidFill>
              <a:latin typeface="Century Gothic" panose="020B0502020202020204" pitchFamily="34" charset="0"/>
            </a:endParaRPr>
          </a:p>
        </p:txBody>
      </p:sp>
      <p:pic>
        <p:nvPicPr>
          <p:cNvPr id="16388" name="Picture 4" descr="INTERCITYHOTEL NIZWA | CHOOSE YOUR STAY IN NIZWA | BOOK NOW &amp; SAVE">
            <a:extLst>
              <a:ext uri="{FF2B5EF4-FFF2-40B4-BE49-F238E27FC236}">
                <a16:creationId xmlns:a16="http://schemas.microsoft.com/office/drawing/2014/main" id="{7309E647-C3BF-84FA-1188-433E92440A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206"/>
          <a:stretch>
            <a:fillRect/>
          </a:stretch>
        </p:blipFill>
        <p:spPr bwMode="auto">
          <a:xfrm>
            <a:off x="-1" y="0"/>
            <a:ext cx="7086601"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494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2E9D-3267-AA30-2A91-342980C0758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E557AA2-CC7F-1857-4475-4A3A30A18B0B}"/>
              </a:ext>
            </a:extLst>
          </p:cNvPr>
          <p:cNvSpPr>
            <a:spLocks noGrp="1"/>
          </p:cNvSpPr>
          <p:nvPr>
            <p:ph type="title"/>
          </p:nvPr>
        </p:nvSpPr>
        <p:spPr/>
        <p:txBody>
          <a:bodyPr>
            <a:noAutofit/>
          </a:bodyPr>
          <a:lstStyle/>
          <a:p>
            <a:r>
              <a:rPr lang="de-AT" sz="2100" dirty="0">
                <a:latin typeface="Century Gothic" panose="020B0502020202020204" pitchFamily="34" charset="0"/>
              </a:rPr>
              <a:t>Day 4 Jebel Akhdar</a:t>
            </a:r>
          </a:p>
        </p:txBody>
      </p:sp>
    </p:spTree>
    <p:extLst>
      <p:ext uri="{BB962C8B-B14F-4D97-AF65-F5344CB8AC3E}">
        <p14:creationId xmlns:p14="http://schemas.microsoft.com/office/powerpoint/2010/main" val="1659192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5DC8C-7D0A-053B-35DC-14C583AFD2D5}"/>
            </a:ext>
          </a:extLst>
        </p:cNvPr>
        <p:cNvGrpSpPr/>
        <p:nvPr/>
      </p:nvGrpSpPr>
      <p:grpSpPr>
        <a:xfrm>
          <a:off x="0" y="0"/>
          <a:ext cx="0" cy="0"/>
          <a:chOff x="0" y="0"/>
          <a:chExt cx="0" cy="0"/>
        </a:xfrm>
      </p:grpSpPr>
      <p:sp>
        <p:nvSpPr>
          <p:cNvPr id="21" name="Inhaltsplatzhalter 3">
            <a:extLst>
              <a:ext uri="{FF2B5EF4-FFF2-40B4-BE49-F238E27FC236}">
                <a16:creationId xmlns:a16="http://schemas.microsoft.com/office/drawing/2014/main" id="{B2B638AF-93D3-8395-A0B8-2D3FD73B869C}"/>
              </a:ext>
            </a:extLst>
          </p:cNvPr>
          <p:cNvSpPr txBox="1">
            <a:spLocks/>
          </p:cNvSpPr>
          <p:nvPr/>
        </p:nvSpPr>
        <p:spPr>
          <a:xfrm>
            <a:off x="4531649" y="2109886"/>
            <a:ext cx="4295775" cy="1614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de-AT" sz="1200" dirty="0">
              <a:solidFill>
                <a:schemeClr val="tx1">
                  <a:lumMod val="75000"/>
                  <a:lumOff val="25000"/>
                </a:schemeClr>
              </a:solidFill>
              <a:latin typeface="Century Gothic" panose="020B0502020202020204" pitchFamily="34" charset="0"/>
            </a:endParaRPr>
          </a:p>
        </p:txBody>
      </p:sp>
      <p:sp>
        <p:nvSpPr>
          <p:cNvPr id="2" name="Titel 2">
            <a:extLst>
              <a:ext uri="{FF2B5EF4-FFF2-40B4-BE49-F238E27FC236}">
                <a16:creationId xmlns:a16="http://schemas.microsoft.com/office/drawing/2014/main" id="{59187CF1-F52D-BC81-A79D-9CD9B4C73DD4}"/>
              </a:ext>
            </a:extLst>
          </p:cNvPr>
          <p:cNvSpPr txBox="1">
            <a:spLocks/>
          </p:cNvSpPr>
          <p:nvPr/>
        </p:nvSpPr>
        <p:spPr>
          <a:xfrm>
            <a:off x="5257800" y="2554505"/>
            <a:ext cx="4862359" cy="6330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AT" sz="1800" b="1" dirty="0">
                <a:solidFill>
                  <a:schemeClr val="tx1">
                    <a:lumMod val="75000"/>
                    <a:lumOff val="25000"/>
                  </a:schemeClr>
                </a:solidFill>
                <a:latin typeface="Century Gothic" panose="020B0502020202020204" pitchFamily="34" charset="0"/>
              </a:rPr>
              <a:t>JEBEL AKHDAR</a:t>
            </a:r>
          </a:p>
        </p:txBody>
      </p:sp>
      <p:sp>
        <p:nvSpPr>
          <p:cNvPr id="4" name="Rectangle 3">
            <a:extLst>
              <a:ext uri="{FF2B5EF4-FFF2-40B4-BE49-F238E27FC236}">
                <a16:creationId xmlns:a16="http://schemas.microsoft.com/office/drawing/2014/main" id="{875F6196-DB46-9994-838B-741EC38518BD}"/>
              </a:ext>
            </a:extLst>
          </p:cNvPr>
          <p:cNvSpPr>
            <a:spLocks noChangeArrowheads="1"/>
          </p:cNvSpPr>
          <p:nvPr/>
        </p:nvSpPr>
        <p:spPr bwMode="auto">
          <a:xfrm>
            <a:off x="5257800" y="2963364"/>
            <a:ext cx="3505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GB" sz="1200" dirty="0">
                <a:latin typeface="Century Gothic" panose="020B0502020202020204" pitchFamily="34" charset="0"/>
              </a:rPr>
              <a:t>Jebel Akhdar, part of the Al Hajar range, is a breathtaking oasis known for its cool climate, terraced farms, and fragrant rose gardens. Famous for pomegranates and walnuts, it offers stunning hikes, dramatic cliffs, and traditional villages. A must-visit for nature lovers and adventure seekers exploring Oman’s highlands.</a:t>
            </a:r>
            <a:endParaRPr kumimoji="0" lang="en-US" altLang="en-US" sz="1200" b="0" i="0" u="none" strike="noStrike" cap="none" normalizeH="0" baseline="0" dirty="0">
              <a:ln>
                <a:noFill/>
              </a:ln>
              <a:solidFill>
                <a:schemeClr val="tx1"/>
              </a:solidFill>
              <a:effectLst/>
              <a:latin typeface="Century Gothic" panose="020B0502020202020204" pitchFamily="34" charset="0"/>
            </a:endParaRPr>
          </a:p>
        </p:txBody>
      </p:sp>
      <p:pic>
        <p:nvPicPr>
          <p:cNvPr id="17410" name="Picture 2" descr="Exquisite Places to Visit in Oman - Masirah Island and Jebel Akhdar -  Kuntala's Travel Blog">
            <a:extLst>
              <a:ext uri="{FF2B5EF4-FFF2-40B4-BE49-F238E27FC236}">
                <a16:creationId xmlns:a16="http://schemas.microsoft.com/office/drawing/2014/main" id="{A2390453-57AC-0B22-E516-1E794B7D8E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835" r="19128"/>
          <a:stretch>
            <a:fillRect/>
          </a:stretch>
        </p:blipFill>
        <p:spPr bwMode="auto">
          <a:xfrm>
            <a:off x="0" y="0"/>
            <a:ext cx="5105400"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558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F1888-69F6-856B-6DBA-FD745EF42BD8}"/>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11CE35B1-A879-7625-01B8-1B769FAC16CB}"/>
              </a:ext>
            </a:extLst>
          </p:cNvPr>
          <p:cNvSpPr>
            <a:spLocks noGrp="1"/>
          </p:cNvSpPr>
          <p:nvPr>
            <p:ph type="ctrTitle"/>
          </p:nvPr>
        </p:nvSpPr>
        <p:spPr>
          <a:xfrm>
            <a:off x="838199" y="3867151"/>
            <a:ext cx="7467600" cy="480650"/>
          </a:xfrm>
        </p:spPr>
        <p:txBody>
          <a:bodyPr>
            <a:noAutofit/>
          </a:bodyPr>
          <a:lstStyle/>
          <a:p>
            <a:pPr algn="ctr"/>
            <a:r>
              <a:rPr lang="de-AT" sz="2400" dirty="0">
                <a:solidFill>
                  <a:schemeClr val="tx1">
                    <a:lumMod val="75000"/>
                    <a:lumOff val="25000"/>
                  </a:schemeClr>
                </a:solidFill>
                <a:latin typeface="Century Gothic" panose="020B0502020202020204" pitchFamily="34" charset="0"/>
              </a:rPr>
              <a:t>Sama Heights Resort, Jebel Akhdar</a:t>
            </a:r>
          </a:p>
        </p:txBody>
      </p:sp>
      <p:pic>
        <p:nvPicPr>
          <p:cNvPr id="1028" name="Picture 4">
            <a:extLst>
              <a:ext uri="{FF2B5EF4-FFF2-40B4-BE49-F238E27FC236}">
                <a16:creationId xmlns:a16="http://schemas.microsoft.com/office/drawing/2014/main" id="{6DF322AD-5A2B-A947-DD7E-E8146475FD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689" r="40187" b="43170"/>
          <a:stretch>
            <a:fillRect/>
          </a:stretch>
        </p:blipFill>
        <p:spPr bwMode="auto">
          <a:xfrm>
            <a:off x="4114800" y="4400550"/>
            <a:ext cx="762000" cy="205632"/>
          </a:xfrm>
          <a:prstGeom prst="rect">
            <a:avLst/>
          </a:prstGeom>
          <a:noFill/>
          <a:extLst>
            <a:ext uri="{909E8E84-426E-40DD-AFC4-6F175D3DCCD1}">
              <a14:hiddenFill xmlns:a14="http://schemas.microsoft.com/office/drawing/2010/main">
                <a:solidFill>
                  <a:srgbClr val="FFFFFF"/>
                </a:solidFill>
              </a14:hiddenFill>
            </a:ext>
          </a:extLst>
        </p:spPr>
      </p:pic>
      <p:pic>
        <p:nvPicPr>
          <p:cNvPr id="40962" name="Picture 2" descr="Sama Heights Resort &amp; Spa (Jebel Shams): Alle Infos zum Hotel">
            <a:extLst>
              <a:ext uri="{FF2B5EF4-FFF2-40B4-BE49-F238E27FC236}">
                <a16:creationId xmlns:a16="http://schemas.microsoft.com/office/drawing/2014/main" id="{650EFCC8-65AF-8853-05C7-F790AEA8E8E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934" b="10907"/>
          <a:stretch>
            <a:fillRect/>
          </a:stretch>
        </p:blipFill>
        <p:spPr bwMode="auto">
          <a:xfrm>
            <a:off x="0" y="0"/>
            <a:ext cx="9144000" cy="3814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878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2385A-9FD8-BAC9-36B4-71BD5C12DC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38C721-DAB7-1F34-8BB6-8E40D80C31E9}"/>
              </a:ext>
            </a:extLst>
          </p:cNvPr>
          <p:cNvSpPr txBox="1"/>
          <p:nvPr/>
        </p:nvSpPr>
        <p:spPr>
          <a:xfrm>
            <a:off x="6705600" y="3409950"/>
            <a:ext cx="2299607" cy="1569660"/>
          </a:xfrm>
          <a:prstGeom prst="rect">
            <a:avLst/>
          </a:prstGeom>
          <a:noFill/>
        </p:spPr>
        <p:txBody>
          <a:bodyPr wrap="square">
            <a:spAutoFit/>
          </a:bodyPr>
          <a:lstStyle/>
          <a:p>
            <a:pPr algn="just"/>
            <a:r>
              <a:rPr lang="en-GB" sz="1200" dirty="0">
                <a:latin typeface="Century Gothic" panose="020B0502020202020204" pitchFamily="34" charset="0"/>
              </a:rPr>
              <a:t>The </a:t>
            </a:r>
            <a:r>
              <a:rPr lang="en-GB" sz="1200" b="1" dirty="0">
                <a:latin typeface="Century Gothic" panose="020B0502020202020204" pitchFamily="34" charset="0"/>
              </a:rPr>
              <a:t>Sama Heights Resort</a:t>
            </a:r>
            <a:r>
              <a:rPr lang="en-GB" sz="1200" dirty="0">
                <a:latin typeface="Century Gothic" panose="020B0502020202020204" pitchFamily="34" charset="0"/>
              </a:rPr>
              <a:t>, Jebel Akhdar offers </a:t>
            </a:r>
          </a:p>
          <a:p>
            <a:pPr algn="just"/>
            <a:r>
              <a:rPr lang="en-GB" sz="1200" b="1" dirty="0">
                <a:latin typeface="Century Gothic" panose="020B0502020202020204" pitchFamily="34" charset="0"/>
              </a:rPr>
              <a:t>18 luxurious villas</a:t>
            </a:r>
          </a:p>
          <a:p>
            <a:pPr algn="just"/>
            <a:endParaRPr lang="en-GB" sz="1200" b="1" dirty="0">
              <a:solidFill>
                <a:schemeClr val="tx1">
                  <a:lumMod val="95000"/>
                  <a:lumOff val="5000"/>
                </a:schemeClr>
              </a:solidFill>
              <a:latin typeface="Century Gothic" panose="020B0502020202020204" pitchFamily="34" charset="0"/>
            </a:endParaRPr>
          </a:p>
          <a:p>
            <a:pPr algn="just"/>
            <a:r>
              <a:rPr lang="en-GB" sz="1200" dirty="0">
                <a:latin typeface="Century Gothic" panose="020B0502020202020204" pitchFamily="34" charset="0"/>
              </a:rPr>
              <a:t>The villas range in size from </a:t>
            </a:r>
            <a:r>
              <a:rPr lang="en-GB" sz="1200" b="1" dirty="0">
                <a:latin typeface="Century Gothic" panose="020B0502020202020204" pitchFamily="34" charset="0"/>
              </a:rPr>
              <a:t>85 sqm (1-bedroom)</a:t>
            </a:r>
            <a:r>
              <a:rPr lang="en-GB" sz="1200" dirty="0">
                <a:latin typeface="Century Gothic" panose="020B0502020202020204" pitchFamily="34" charset="0"/>
              </a:rPr>
              <a:t> to </a:t>
            </a:r>
            <a:r>
              <a:rPr lang="en-GB" sz="1200" b="1" dirty="0">
                <a:latin typeface="Century Gothic" panose="020B0502020202020204" pitchFamily="34" charset="0"/>
              </a:rPr>
              <a:t>160 sqm (2-bedroom)</a:t>
            </a:r>
            <a:endParaRPr lang="en-GB" sz="1200" b="0" i="0" dirty="0">
              <a:solidFill>
                <a:schemeClr val="tx1">
                  <a:lumMod val="95000"/>
                  <a:lumOff val="5000"/>
                </a:schemeClr>
              </a:solidFill>
              <a:effectLst/>
              <a:latin typeface="Century Gothic" panose="020B0502020202020204" pitchFamily="34" charset="0"/>
            </a:endParaRPr>
          </a:p>
        </p:txBody>
      </p:sp>
      <p:pic>
        <p:nvPicPr>
          <p:cNvPr id="39938" name="Picture 2" descr="Sama Heights Resort, Dār Sawdāʼ (updated prices 2025)">
            <a:extLst>
              <a:ext uri="{FF2B5EF4-FFF2-40B4-BE49-F238E27FC236}">
                <a16:creationId xmlns:a16="http://schemas.microsoft.com/office/drawing/2014/main" id="{BBE65192-BADB-0E95-CED2-8722EA1288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92" t="15" r="5146" b="-15"/>
          <a:stretch>
            <a:fillRect/>
          </a:stretch>
        </p:blipFill>
        <p:spPr bwMode="auto">
          <a:xfrm>
            <a:off x="0" y="0"/>
            <a:ext cx="6629399"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619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8FF9B-2817-41B6-E78E-20B8550CD518}"/>
            </a:ext>
          </a:extLst>
        </p:cNvPr>
        <p:cNvGrpSpPr/>
        <p:nvPr/>
      </p:nvGrpSpPr>
      <p:grpSpPr>
        <a:xfrm>
          <a:off x="0" y="0"/>
          <a:ext cx="0" cy="0"/>
          <a:chOff x="0" y="0"/>
          <a:chExt cx="0" cy="0"/>
        </a:xfrm>
      </p:grpSpPr>
      <p:pic>
        <p:nvPicPr>
          <p:cNvPr id="38914" name="Picture 2" descr="Sama Heights Resort from $77. Dāḩiz Hotel Deals &amp; Reviews - KAYAK">
            <a:extLst>
              <a:ext uri="{FF2B5EF4-FFF2-40B4-BE49-F238E27FC236}">
                <a16:creationId xmlns:a16="http://schemas.microsoft.com/office/drawing/2014/main" id="{45E2A02E-A79C-5F90-2BF6-10F302A6A8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643"/>
          <a:stretch>
            <a:fillRect/>
          </a:stretch>
        </p:blipFill>
        <p:spPr bwMode="auto">
          <a:xfrm>
            <a:off x="0" y="2571750"/>
            <a:ext cx="45720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One night on the mountain - Review of Sama Heights Resort &amp; Spa, Nizwa -  Tripadvisor">
            <a:extLst>
              <a:ext uri="{FF2B5EF4-FFF2-40B4-BE49-F238E27FC236}">
                <a16:creationId xmlns:a16="http://schemas.microsoft.com/office/drawing/2014/main" id="{9EA33F20-6108-7E95-DA4C-FD953C3744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420"/>
          <a:stretch>
            <a:fillRect/>
          </a:stretch>
        </p:blipFill>
        <p:spPr bwMode="auto">
          <a:xfrm>
            <a:off x="4648200" y="2571750"/>
            <a:ext cx="44958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38918" name="Picture 6" descr="Sama Heights Resort | Al Hamra 2020 UPDATED DEALS, HD Photos &amp; Reviews">
            <a:extLst>
              <a:ext uri="{FF2B5EF4-FFF2-40B4-BE49-F238E27FC236}">
                <a16:creationId xmlns:a16="http://schemas.microsoft.com/office/drawing/2014/main" id="{710BA345-DCED-80DA-ECF2-66365BFE2CB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8043"/>
          <a:stretch>
            <a:fillRect/>
          </a:stretch>
        </p:blipFill>
        <p:spPr bwMode="auto">
          <a:xfrm>
            <a:off x="0" y="0"/>
            <a:ext cx="4572000" cy="2495550"/>
          </a:xfrm>
          <a:prstGeom prst="rect">
            <a:avLst/>
          </a:prstGeom>
          <a:noFill/>
          <a:extLst>
            <a:ext uri="{909E8E84-426E-40DD-AFC4-6F175D3DCCD1}">
              <a14:hiddenFill xmlns:a14="http://schemas.microsoft.com/office/drawing/2010/main">
                <a:solidFill>
                  <a:srgbClr val="FFFFFF"/>
                </a:solidFill>
              </a14:hiddenFill>
            </a:ext>
          </a:extLst>
        </p:spPr>
      </p:pic>
      <p:pic>
        <p:nvPicPr>
          <p:cNvPr id="38920" name="Picture 8" descr="Sama Heights Resort, Dār Sawdāʼ (updated prices 2025)">
            <a:extLst>
              <a:ext uri="{FF2B5EF4-FFF2-40B4-BE49-F238E27FC236}">
                <a16:creationId xmlns:a16="http://schemas.microsoft.com/office/drawing/2014/main" id="{23F612A4-878B-F904-8842-6B6BA3E130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6772"/>
          <a:stretch>
            <a:fillRect/>
          </a:stretch>
        </p:blipFill>
        <p:spPr bwMode="auto">
          <a:xfrm>
            <a:off x="4648201" y="0"/>
            <a:ext cx="4495800"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849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DD464-4251-C804-E35F-ADF2904CD40B}"/>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4D94A35D-51CA-109C-4E52-AAF3D5EA321B}"/>
              </a:ext>
            </a:extLst>
          </p:cNvPr>
          <p:cNvSpPr>
            <a:spLocks noGrp="1"/>
          </p:cNvSpPr>
          <p:nvPr>
            <p:ph type="ctrTitle"/>
          </p:nvPr>
        </p:nvSpPr>
        <p:spPr>
          <a:xfrm>
            <a:off x="1885910" y="3790950"/>
            <a:ext cx="5372179" cy="633050"/>
          </a:xfrm>
        </p:spPr>
        <p:txBody>
          <a:bodyPr>
            <a:noAutofit/>
          </a:bodyPr>
          <a:lstStyle/>
          <a:p>
            <a:pPr algn="ctr"/>
            <a:r>
              <a:rPr lang="fr-FR" sz="1800" dirty="0" err="1">
                <a:solidFill>
                  <a:schemeClr val="tx1">
                    <a:lumMod val="75000"/>
                    <a:lumOff val="25000"/>
                  </a:schemeClr>
                </a:solidFill>
                <a:latin typeface="Century Gothic" panose="020B0502020202020204" pitchFamily="34" charset="0"/>
              </a:rPr>
              <a:t>Visit</a:t>
            </a:r>
            <a:r>
              <a:rPr lang="fr-FR" sz="1800" dirty="0">
                <a:solidFill>
                  <a:schemeClr val="tx1">
                    <a:lumMod val="75000"/>
                    <a:lumOff val="25000"/>
                  </a:schemeClr>
                </a:solidFill>
                <a:latin typeface="Century Gothic" panose="020B0502020202020204" pitchFamily="34" charset="0"/>
              </a:rPr>
              <a:t> </a:t>
            </a:r>
            <a:r>
              <a:rPr lang="fr-FR" sz="1800" dirty="0" err="1">
                <a:solidFill>
                  <a:schemeClr val="tx1">
                    <a:lumMod val="75000"/>
                    <a:lumOff val="25000"/>
                  </a:schemeClr>
                </a:solidFill>
                <a:latin typeface="Century Gothic" panose="020B0502020202020204" pitchFamily="34" charset="0"/>
              </a:rPr>
              <a:t>Nizwa</a:t>
            </a:r>
            <a:r>
              <a:rPr lang="fr-FR" sz="1800" dirty="0">
                <a:solidFill>
                  <a:schemeClr val="tx1">
                    <a:lumMod val="75000"/>
                    <a:lumOff val="25000"/>
                  </a:schemeClr>
                </a:solidFill>
                <a:latin typeface="Century Gothic" panose="020B0502020202020204" pitchFamily="34" charset="0"/>
              </a:rPr>
              <a:t> Fort &amp; traditional souk</a:t>
            </a:r>
            <a:endParaRPr lang="de-AT" sz="1800" dirty="0">
              <a:solidFill>
                <a:schemeClr val="tx1">
                  <a:lumMod val="75000"/>
                  <a:lumOff val="25000"/>
                </a:schemeClr>
              </a:solidFill>
              <a:latin typeface="Century Gothic" panose="020B0502020202020204" pitchFamily="34" charset="0"/>
            </a:endParaRPr>
          </a:p>
        </p:txBody>
      </p:sp>
      <p:pic>
        <p:nvPicPr>
          <p:cNvPr id="19460" name="Picture 4" descr="Best Nizwa Souk Tours &amp; Tickets - Book Now - page 5">
            <a:extLst>
              <a:ext uri="{FF2B5EF4-FFF2-40B4-BE49-F238E27FC236}">
                <a16:creationId xmlns:a16="http://schemas.microsoft.com/office/drawing/2014/main" id="{09D6321B-6AB8-3E31-29AD-303B157F6E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0837" y="965659"/>
            <a:ext cx="3710115" cy="2473410"/>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descr="Visit City of Nizwa, The Cultural Hub of Oman — ABU BAKAR PHOTOGRAPHY">
            <a:extLst>
              <a:ext uri="{FF2B5EF4-FFF2-40B4-BE49-F238E27FC236}">
                <a16:creationId xmlns:a16="http://schemas.microsoft.com/office/drawing/2014/main" id="{77FCDDAF-7B08-5D68-3B23-0E059F1551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 y="942037"/>
            <a:ext cx="3449637" cy="2411917"/>
          </a:xfrm>
          <a:prstGeom prst="rect">
            <a:avLst/>
          </a:prstGeom>
          <a:noFill/>
          <a:extLst>
            <a:ext uri="{909E8E84-426E-40DD-AFC4-6F175D3DCCD1}">
              <a14:hiddenFill xmlns:a14="http://schemas.microsoft.com/office/drawing/2010/main">
                <a:solidFill>
                  <a:srgbClr val="FFFFFF"/>
                </a:solidFill>
              </a14:hiddenFill>
            </a:ext>
          </a:extLst>
        </p:spPr>
      </p:pic>
      <p:pic>
        <p:nvPicPr>
          <p:cNvPr id="19464" name="Picture 8" descr="Best Nizwa Fort Tours &amp; Tickets - Book Now">
            <a:extLst>
              <a:ext uri="{FF2B5EF4-FFF2-40B4-BE49-F238E27FC236}">
                <a16:creationId xmlns:a16="http://schemas.microsoft.com/office/drawing/2014/main" id="{562F7E60-83DF-3E9C-F33E-9367F255EA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542" y="590550"/>
            <a:ext cx="5014914" cy="334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348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8E574-AA3C-2748-E4AF-0ED8958A3A5F}"/>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A9904E53-0D1B-2C72-A032-3B8493BF574E}"/>
              </a:ext>
            </a:extLst>
          </p:cNvPr>
          <p:cNvSpPr>
            <a:spLocks noGrp="1"/>
          </p:cNvSpPr>
          <p:nvPr>
            <p:ph type="ctrTitle"/>
          </p:nvPr>
        </p:nvSpPr>
        <p:spPr>
          <a:xfrm>
            <a:off x="7239000" y="2805856"/>
            <a:ext cx="2057400" cy="2385650"/>
          </a:xfrm>
        </p:spPr>
        <p:txBody>
          <a:bodyPr>
            <a:noAutofit/>
          </a:bodyPr>
          <a:lstStyle/>
          <a:p>
            <a:r>
              <a:rPr lang="en-US" sz="1800" dirty="0">
                <a:solidFill>
                  <a:schemeClr val="tx1">
                    <a:lumMod val="75000"/>
                    <a:lumOff val="25000"/>
                  </a:schemeClr>
                </a:solidFill>
                <a:latin typeface="Century Gothic" panose="020B0502020202020204" pitchFamily="34" charset="0"/>
              </a:rPr>
              <a:t>Lunch at a local restaurant</a:t>
            </a:r>
            <a:br>
              <a:rPr lang="en-US" sz="1800" dirty="0">
                <a:solidFill>
                  <a:schemeClr val="tx1">
                    <a:lumMod val="75000"/>
                    <a:lumOff val="25000"/>
                  </a:schemeClr>
                </a:solidFill>
                <a:latin typeface="Century Gothic" panose="020B0502020202020204" pitchFamily="34" charset="0"/>
              </a:rPr>
            </a:br>
            <a:br>
              <a:rPr lang="en-US" sz="1800" dirty="0">
                <a:solidFill>
                  <a:schemeClr val="tx1">
                    <a:lumMod val="75000"/>
                    <a:lumOff val="25000"/>
                  </a:schemeClr>
                </a:solidFill>
                <a:latin typeface="Century Gothic" panose="020B0502020202020204" pitchFamily="34" charset="0"/>
              </a:rPr>
            </a:br>
            <a:r>
              <a:rPr lang="en-GB" sz="1800" dirty="0">
                <a:solidFill>
                  <a:schemeClr val="tx1">
                    <a:lumMod val="75000"/>
                    <a:lumOff val="25000"/>
                  </a:schemeClr>
                </a:solidFill>
                <a:latin typeface="Century Gothic" panose="020B0502020202020204" pitchFamily="34" charset="0"/>
              </a:rPr>
              <a:t>Continue your drive towards Jebel Akhdar followed by Check-in at the Hotel</a:t>
            </a:r>
            <a:br>
              <a:rPr lang="en-US" sz="1800" dirty="0">
                <a:solidFill>
                  <a:schemeClr val="tx1">
                    <a:lumMod val="75000"/>
                    <a:lumOff val="25000"/>
                  </a:schemeClr>
                </a:solidFill>
                <a:latin typeface="Century Gothic" panose="020B0502020202020204" pitchFamily="34" charset="0"/>
              </a:rPr>
            </a:br>
            <a:endParaRPr lang="en-IN" sz="1800" dirty="0">
              <a:solidFill>
                <a:schemeClr val="tx1">
                  <a:lumMod val="75000"/>
                  <a:lumOff val="25000"/>
                </a:schemeClr>
              </a:solidFill>
              <a:latin typeface="Century Gothic" panose="020B0502020202020204" pitchFamily="34" charset="0"/>
            </a:endParaRPr>
          </a:p>
        </p:txBody>
      </p:sp>
      <p:pic>
        <p:nvPicPr>
          <p:cNvPr id="20488" name="Picture 8" descr="Top Dining: Best Restaurants In Nizwa Guide">
            <a:extLst>
              <a:ext uri="{FF2B5EF4-FFF2-40B4-BE49-F238E27FC236}">
                <a16:creationId xmlns:a16="http://schemas.microsoft.com/office/drawing/2014/main" id="{23E066E3-2749-345A-1C65-3E3604B5C9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077"/>
          <a:stretch>
            <a:fillRect/>
          </a:stretch>
        </p:blipFill>
        <p:spPr bwMode="auto">
          <a:xfrm>
            <a:off x="71438" y="0"/>
            <a:ext cx="7015162"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718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AEFA-7CB8-5CD2-3EAB-38A524CC6A5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8E734B3-0A77-511E-D5ED-2F983AE7F016}"/>
              </a:ext>
            </a:extLst>
          </p:cNvPr>
          <p:cNvSpPr>
            <a:spLocks noGrp="1"/>
          </p:cNvSpPr>
          <p:nvPr>
            <p:ph type="title"/>
          </p:nvPr>
        </p:nvSpPr>
        <p:spPr/>
        <p:txBody>
          <a:bodyPr>
            <a:noAutofit/>
          </a:bodyPr>
          <a:lstStyle/>
          <a:p>
            <a:r>
              <a:rPr lang="de-AT" sz="2100" dirty="0">
                <a:latin typeface="Century Gothic" panose="020B0502020202020204" pitchFamily="34" charset="0"/>
              </a:rPr>
              <a:t>Day 5 Wahiba Sands</a:t>
            </a:r>
          </a:p>
        </p:txBody>
      </p:sp>
    </p:spTree>
    <p:extLst>
      <p:ext uri="{BB962C8B-B14F-4D97-AF65-F5344CB8AC3E}">
        <p14:creationId xmlns:p14="http://schemas.microsoft.com/office/powerpoint/2010/main" val="4259814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BE188-1C9E-011D-2DC3-D1FD845A2D92}"/>
            </a:ext>
          </a:extLst>
        </p:cNvPr>
        <p:cNvGrpSpPr/>
        <p:nvPr/>
      </p:nvGrpSpPr>
      <p:grpSpPr>
        <a:xfrm>
          <a:off x="0" y="0"/>
          <a:ext cx="0" cy="0"/>
          <a:chOff x="0" y="0"/>
          <a:chExt cx="0" cy="0"/>
        </a:xfrm>
      </p:grpSpPr>
      <p:sp>
        <p:nvSpPr>
          <p:cNvPr id="21" name="Inhaltsplatzhalter 3">
            <a:extLst>
              <a:ext uri="{FF2B5EF4-FFF2-40B4-BE49-F238E27FC236}">
                <a16:creationId xmlns:a16="http://schemas.microsoft.com/office/drawing/2014/main" id="{CC7856E3-1D6F-30C1-6EA2-DE46FCF94582}"/>
              </a:ext>
            </a:extLst>
          </p:cNvPr>
          <p:cNvSpPr txBox="1">
            <a:spLocks/>
          </p:cNvSpPr>
          <p:nvPr/>
        </p:nvSpPr>
        <p:spPr>
          <a:xfrm>
            <a:off x="5791200" y="2109886"/>
            <a:ext cx="3036224" cy="1614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de-AT" sz="1200" dirty="0">
              <a:solidFill>
                <a:schemeClr val="tx1">
                  <a:lumMod val="75000"/>
                  <a:lumOff val="25000"/>
                </a:schemeClr>
              </a:solidFill>
              <a:latin typeface="Century Gothic" panose="020B0502020202020204" pitchFamily="34" charset="0"/>
            </a:endParaRPr>
          </a:p>
        </p:txBody>
      </p:sp>
      <p:sp>
        <p:nvSpPr>
          <p:cNvPr id="2" name="Titel 2">
            <a:extLst>
              <a:ext uri="{FF2B5EF4-FFF2-40B4-BE49-F238E27FC236}">
                <a16:creationId xmlns:a16="http://schemas.microsoft.com/office/drawing/2014/main" id="{3E98A303-0B2A-11F8-FD08-D4C0E210E5A3}"/>
              </a:ext>
            </a:extLst>
          </p:cNvPr>
          <p:cNvSpPr txBox="1">
            <a:spLocks/>
          </p:cNvSpPr>
          <p:nvPr/>
        </p:nvSpPr>
        <p:spPr>
          <a:xfrm>
            <a:off x="5937712" y="2142652"/>
            <a:ext cx="4862359" cy="6330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AT" sz="1800" b="1" dirty="0">
                <a:solidFill>
                  <a:schemeClr val="tx1">
                    <a:lumMod val="75000"/>
                    <a:lumOff val="25000"/>
                  </a:schemeClr>
                </a:solidFill>
                <a:latin typeface="Century Gothic" panose="020B0502020202020204" pitchFamily="34" charset="0"/>
              </a:rPr>
              <a:t>WAHIBA SANDS</a:t>
            </a:r>
          </a:p>
        </p:txBody>
      </p:sp>
      <p:sp>
        <p:nvSpPr>
          <p:cNvPr id="4" name="Rectangle 3">
            <a:extLst>
              <a:ext uri="{FF2B5EF4-FFF2-40B4-BE49-F238E27FC236}">
                <a16:creationId xmlns:a16="http://schemas.microsoft.com/office/drawing/2014/main" id="{06F02CF5-6708-2D9F-A5F8-DE0DA1201396}"/>
              </a:ext>
            </a:extLst>
          </p:cNvPr>
          <p:cNvSpPr>
            <a:spLocks noChangeArrowheads="1"/>
          </p:cNvSpPr>
          <p:nvPr/>
        </p:nvSpPr>
        <p:spPr bwMode="auto">
          <a:xfrm>
            <a:off x="5937712" y="2391427"/>
            <a:ext cx="3036224"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lang="en-GB" sz="1200" dirty="0">
              <a:latin typeface="Century Gothic" panose="020B0502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GB" sz="1200" dirty="0">
                <a:latin typeface="Century Gothic" panose="020B0502020202020204" pitchFamily="34" charset="0"/>
              </a:rPr>
              <a:t>Wahiba Sands is a mesmerizing desert in Oman, with golden dunes stretching endlessly. Visitors enjoy thrilling dune bashing, camel rides, and stunning sunsets. Bedouin camps offer cultural experiences under starry skies. The ever-shifting sands create a magical, tranquil escape, perfect for adventure and reflection in Oman’s breathtaking wilderness.</a:t>
            </a:r>
            <a:endParaRPr kumimoji="0" lang="en-US" altLang="en-US" sz="1200" b="0" i="0" u="none" strike="noStrike" cap="none" normalizeH="0" baseline="0" dirty="0">
              <a:ln>
                <a:noFill/>
              </a:ln>
              <a:solidFill>
                <a:schemeClr val="tx1"/>
              </a:solidFill>
              <a:effectLst/>
              <a:latin typeface="Century Gothic" panose="020B0502020202020204" pitchFamily="34" charset="0"/>
            </a:endParaRPr>
          </a:p>
        </p:txBody>
      </p:sp>
      <p:pic>
        <p:nvPicPr>
          <p:cNvPr id="21510" name="Picture 6" descr="Top Wahiba Sands Camps For Overnight Stays">
            <a:extLst>
              <a:ext uri="{FF2B5EF4-FFF2-40B4-BE49-F238E27FC236}">
                <a16:creationId xmlns:a16="http://schemas.microsoft.com/office/drawing/2014/main" id="{EB5135EA-B837-DCD9-2A9B-2F6DB6D39E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11" t="-371" r="14242" b="371"/>
          <a:stretch>
            <a:fillRect/>
          </a:stretch>
        </p:blipFill>
        <p:spPr bwMode="auto">
          <a:xfrm>
            <a:off x="1" y="-17245"/>
            <a:ext cx="5867400" cy="4646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311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138D-678B-B4CF-22FC-7EBCCB75917C}"/>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25499538-2256-1B41-C34E-5D7CB31CAD65}"/>
              </a:ext>
            </a:extLst>
          </p:cNvPr>
          <p:cNvSpPr>
            <a:spLocks noGrp="1"/>
          </p:cNvSpPr>
          <p:nvPr>
            <p:ph type="ctrTitle"/>
          </p:nvPr>
        </p:nvSpPr>
        <p:spPr>
          <a:xfrm>
            <a:off x="838199" y="3867151"/>
            <a:ext cx="7467600" cy="480650"/>
          </a:xfrm>
        </p:spPr>
        <p:txBody>
          <a:bodyPr>
            <a:noAutofit/>
          </a:bodyPr>
          <a:lstStyle/>
          <a:p>
            <a:pPr algn="ctr"/>
            <a:r>
              <a:rPr lang="de-AT" sz="2400" dirty="0">
                <a:solidFill>
                  <a:schemeClr val="tx1">
                    <a:lumMod val="75000"/>
                    <a:lumOff val="25000"/>
                  </a:schemeClr>
                </a:solidFill>
                <a:latin typeface="Century Gothic" panose="020B0502020202020204" pitchFamily="34" charset="0"/>
              </a:rPr>
              <a:t>Arabian Oryx Camp, Wahiba Sands</a:t>
            </a:r>
          </a:p>
        </p:txBody>
      </p:sp>
      <p:pic>
        <p:nvPicPr>
          <p:cNvPr id="1028" name="Picture 4">
            <a:extLst>
              <a:ext uri="{FF2B5EF4-FFF2-40B4-BE49-F238E27FC236}">
                <a16:creationId xmlns:a16="http://schemas.microsoft.com/office/drawing/2014/main" id="{791848EA-CA89-1187-9616-420170D25F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689" r="40187" b="43170"/>
          <a:stretch>
            <a:fillRect/>
          </a:stretch>
        </p:blipFill>
        <p:spPr bwMode="auto">
          <a:xfrm>
            <a:off x="4114800" y="4400550"/>
            <a:ext cx="762000" cy="205632"/>
          </a:xfrm>
          <a:prstGeom prst="rect">
            <a:avLst/>
          </a:prstGeom>
          <a:noFill/>
          <a:extLst>
            <a:ext uri="{909E8E84-426E-40DD-AFC4-6F175D3DCCD1}">
              <a14:hiddenFill xmlns:a14="http://schemas.microsoft.com/office/drawing/2010/main">
                <a:solidFill>
                  <a:srgbClr val="FFFFFF"/>
                </a:solidFill>
              </a14:hiddenFill>
            </a:ext>
          </a:extLst>
        </p:spPr>
      </p:pic>
      <p:pic>
        <p:nvPicPr>
          <p:cNvPr id="44034" name="Picture 2" descr="ARABIAN ORYX CAMP (Al Sharqiyah) - Campground Reviews, Photos, Rate  Comparison - Tripadvisor">
            <a:extLst>
              <a:ext uri="{FF2B5EF4-FFF2-40B4-BE49-F238E27FC236}">
                <a16:creationId xmlns:a16="http://schemas.microsoft.com/office/drawing/2014/main" id="{FB3039C6-21D4-BF29-5F73-1F77CA1568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375" b="18538"/>
          <a:stretch>
            <a:fillRect/>
          </a:stretch>
        </p:blipFill>
        <p:spPr bwMode="auto">
          <a:xfrm>
            <a:off x="0" y="0"/>
            <a:ext cx="9144000" cy="3814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997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09476-E5A8-DE77-F6E6-996C33D703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2FF386-F288-A616-65AE-CFE613C432B5}"/>
              </a:ext>
            </a:extLst>
          </p:cNvPr>
          <p:cNvSpPr txBox="1"/>
          <p:nvPr/>
        </p:nvSpPr>
        <p:spPr>
          <a:xfrm>
            <a:off x="6705600" y="3943350"/>
            <a:ext cx="2299607" cy="1015663"/>
          </a:xfrm>
          <a:prstGeom prst="rect">
            <a:avLst/>
          </a:prstGeom>
          <a:noFill/>
        </p:spPr>
        <p:txBody>
          <a:bodyPr wrap="square">
            <a:spAutoFit/>
          </a:bodyPr>
          <a:lstStyle/>
          <a:p>
            <a:pPr algn="just"/>
            <a:r>
              <a:rPr lang="en-GB" sz="1200" dirty="0">
                <a:latin typeface="Century Gothic" panose="020B0502020202020204" pitchFamily="34" charset="0"/>
              </a:rPr>
              <a:t>The camp features </a:t>
            </a:r>
            <a:r>
              <a:rPr lang="en-GB" sz="1200" b="1" dirty="0">
                <a:latin typeface="Century Gothic" panose="020B0502020202020204" pitchFamily="34" charset="0"/>
              </a:rPr>
              <a:t>10 traditional Bedouin-style tents</a:t>
            </a:r>
            <a:r>
              <a:rPr lang="en-GB" sz="1200" dirty="0">
                <a:latin typeface="Century Gothic" panose="020B0502020202020204" pitchFamily="34" charset="0"/>
              </a:rPr>
              <a:t>, each approximately </a:t>
            </a:r>
            <a:r>
              <a:rPr lang="en-GB" sz="1200" b="1" dirty="0">
                <a:latin typeface="Century Gothic" panose="020B0502020202020204" pitchFamily="34" charset="0"/>
              </a:rPr>
              <a:t>25–30 sqm</a:t>
            </a:r>
            <a:r>
              <a:rPr lang="en-GB" sz="1200" dirty="0">
                <a:latin typeface="Century Gothic" panose="020B0502020202020204" pitchFamily="34" charset="0"/>
              </a:rPr>
              <a:t> in size.</a:t>
            </a:r>
            <a:endParaRPr lang="en-GB" sz="1200" b="0" i="0" dirty="0">
              <a:solidFill>
                <a:schemeClr val="tx1">
                  <a:lumMod val="95000"/>
                  <a:lumOff val="5000"/>
                </a:schemeClr>
              </a:solidFill>
              <a:effectLst/>
              <a:latin typeface="Century Gothic" panose="020B0502020202020204" pitchFamily="34" charset="0"/>
            </a:endParaRPr>
          </a:p>
        </p:txBody>
      </p:sp>
      <p:pic>
        <p:nvPicPr>
          <p:cNvPr id="43010" name="Picture 2" descr="Arabian Oryx Camp, Shāhiq (updated prices 2025)">
            <a:extLst>
              <a:ext uri="{FF2B5EF4-FFF2-40B4-BE49-F238E27FC236}">
                <a16:creationId xmlns:a16="http://schemas.microsoft.com/office/drawing/2014/main" id="{6635A30E-7D32-8085-2441-CB3D41C265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22"/>
          <a:stretch>
            <a:fillRect/>
          </a:stretch>
        </p:blipFill>
        <p:spPr bwMode="auto">
          <a:xfrm>
            <a:off x="0" y="0"/>
            <a:ext cx="67056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390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297FD-B05B-025D-34D9-F588FF6382B7}"/>
            </a:ext>
          </a:extLst>
        </p:cNvPr>
        <p:cNvGrpSpPr/>
        <p:nvPr/>
      </p:nvGrpSpPr>
      <p:grpSpPr>
        <a:xfrm>
          <a:off x="0" y="0"/>
          <a:ext cx="0" cy="0"/>
          <a:chOff x="0" y="0"/>
          <a:chExt cx="0" cy="0"/>
        </a:xfrm>
      </p:grpSpPr>
      <p:pic>
        <p:nvPicPr>
          <p:cNvPr id="41986" name="Picture 2" descr="Book Arabian Oryx Camp in Oman with Zahara Tours">
            <a:extLst>
              <a:ext uri="{FF2B5EF4-FFF2-40B4-BE49-F238E27FC236}">
                <a16:creationId xmlns:a16="http://schemas.microsoft.com/office/drawing/2014/main" id="{B077326C-C08D-0271-85F1-EFF7633533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70"/>
          <a:stretch>
            <a:fillRect/>
          </a:stretch>
        </p:blipFill>
        <p:spPr bwMode="auto">
          <a:xfrm>
            <a:off x="0" y="2619375"/>
            <a:ext cx="4541555" cy="2524125"/>
          </a:xfrm>
          <a:prstGeom prst="rect">
            <a:avLst/>
          </a:prstGeom>
          <a:noFill/>
          <a:extLst>
            <a:ext uri="{909E8E84-426E-40DD-AFC4-6F175D3DCCD1}">
              <a14:hiddenFill xmlns:a14="http://schemas.microsoft.com/office/drawing/2010/main">
                <a:solidFill>
                  <a:srgbClr val="FFFFFF"/>
                </a:solidFill>
              </a14:hiddenFill>
            </a:ext>
          </a:extLst>
        </p:spPr>
      </p:pic>
      <p:pic>
        <p:nvPicPr>
          <p:cNvPr id="41988" name="Picture 4" descr="Arabian Oryx Camp, Shāhiq - Reserving">
            <a:extLst>
              <a:ext uri="{FF2B5EF4-FFF2-40B4-BE49-F238E27FC236}">
                <a16:creationId xmlns:a16="http://schemas.microsoft.com/office/drawing/2014/main" id="{64A47D90-B054-7988-AF6E-29D973F739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700"/>
          <a:stretch>
            <a:fillRect/>
          </a:stretch>
        </p:blipFill>
        <p:spPr bwMode="auto">
          <a:xfrm>
            <a:off x="4648200" y="2619374"/>
            <a:ext cx="4495799" cy="2524125"/>
          </a:xfrm>
          <a:prstGeom prst="rect">
            <a:avLst/>
          </a:prstGeom>
          <a:noFill/>
          <a:extLst>
            <a:ext uri="{909E8E84-426E-40DD-AFC4-6F175D3DCCD1}">
              <a14:hiddenFill xmlns:a14="http://schemas.microsoft.com/office/drawing/2010/main">
                <a:solidFill>
                  <a:srgbClr val="FFFFFF"/>
                </a:solidFill>
              </a14:hiddenFill>
            </a:ext>
          </a:extLst>
        </p:spPr>
      </p:pic>
      <p:pic>
        <p:nvPicPr>
          <p:cNvPr id="41990" name="Picture 6" descr="Arabian Oryx Camp - Guest Reservations">
            <a:extLst>
              <a:ext uri="{FF2B5EF4-FFF2-40B4-BE49-F238E27FC236}">
                <a16:creationId xmlns:a16="http://schemas.microsoft.com/office/drawing/2014/main" id="{3520096D-3692-6227-74F7-9256250000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9" t="21201" r="559" b="4776"/>
          <a:stretch>
            <a:fillRect/>
          </a:stretch>
        </p:blipFill>
        <p:spPr bwMode="auto">
          <a:xfrm>
            <a:off x="0" y="0"/>
            <a:ext cx="4546600" cy="2524125"/>
          </a:xfrm>
          <a:prstGeom prst="rect">
            <a:avLst/>
          </a:prstGeom>
          <a:noFill/>
          <a:extLst>
            <a:ext uri="{909E8E84-426E-40DD-AFC4-6F175D3DCCD1}">
              <a14:hiddenFill xmlns:a14="http://schemas.microsoft.com/office/drawing/2010/main">
                <a:solidFill>
                  <a:srgbClr val="FFFFFF"/>
                </a:solidFill>
              </a14:hiddenFill>
            </a:ext>
          </a:extLst>
        </p:spPr>
      </p:pic>
      <p:pic>
        <p:nvPicPr>
          <p:cNvPr id="41992" name="Picture 8" descr="Arabian Oryx Camp, Shāhiq (updated prices 2025)">
            <a:extLst>
              <a:ext uri="{FF2B5EF4-FFF2-40B4-BE49-F238E27FC236}">
                <a16:creationId xmlns:a16="http://schemas.microsoft.com/office/drawing/2014/main" id="{7560857A-2F87-EAB0-F063-07A74B6E815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5818"/>
          <a:stretch>
            <a:fillRect/>
          </a:stretch>
        </p:blipFill>
        <p:spPr bwMode="auto">
          <a:xfrm>
            <a:off x="4648200" y="0"/>
            <a:ext cx="4495800" cy="252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0549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08A9A-CDB1-56F8-8EA8-4FE21AAD455E}"/>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BA5B2F5D-65A7-D33A-5F0A-EAD98CA55743}"/>
              </a:ext>
            </a:extLst>
          </p:cNvPr>
          <p:cNvSpPr>
            <a:spLocks noGrp="1"/>
          </p:cNvSpPr>
          <p:nvPr>
            <p:ph type="ctrTitle"/>
          </p:nvPr>
        </p:nvSpPr>
        <p:spPr>
          <a:xfrm>
            <a:off x="7239000" y="2571750"/>
            <a:ext cx="1828800" cy="2385650"/>
          </a:xfrm>
        </p:spPr>
        <p:txBody>
          <a:bodyPr>
            <a:noAutofit/>
          </a:bodyPr>
          <a:lstStyle/>
          <a:p>
            <a:r>
              <a:rPr lang="en-US" sz="1800" dirty="0">
                <a:solidFill>
                  <a:schemeClr val="tx1">
                    <a:lumMod val="75000"/>
                    <a:lumOff val="25000"/>
                  </a:schemeClr>
                </a:solidFill>
                <a:latin typeface="Century Gothic" panose="020B0502020202020204" pitchFamily="34" charset="0"/>
              </a:rPr>
              <a:t>Breakfast at the Hotel and then</a:t>
            </a:r>
            <a:br>
              <a:rPr lang="en-US" sz="1800" dirty="0">
                <a:solidFill>
                  <a:schemeClr val="tx1">
                    <a:lumMod val="75000"/>
                    <a:lumOff val="25000"/>
                  </a:schemeClr>
                </a:solidFill>
                <a:latin typeface="Century Gothic" panose="020B0502020202020204" pitchFamily="34" charset="0"/>
              </a:rPr>
            </a:br>
            <a:r>
              <a:rPr lang="en-US" sz="1800" dirty="0">
                <a:solidFill>
                  <a:schemeClr val="tx1">
                    <a:lumMod val="75000"/>
                    <a:lumOff val="25000"/>
                  </a:schemeClr>
                </a:solidFill>
                <a:latin typeface="Century Gothic" panose="020B0502020202020204" pitchFamily="34" charset="0"/>
              </a:rPr>
              <a:t>start your Drive to Wahiba Sands</a:t>
            </a:r>
            <a:endParaRPr lang="en-IN" sz="1800" dirty="0">
              <a:solidFill>
                <a:schemeClr val="tx1">
                  <a:lumMod val="75000"/>
                  <a:lumOff val="25000"/>
                </a:schemeClr>
              </a:solidFill>
              <a:latin typeface="Century Gothic" panose="020B0502020202020204" pitchFamily="34" charset="0"/>
            </a:endParaRPr>
          </a:p>
        </p:txBody>
      </p:sp>
      <p:pic>
        <p:nvPicPr>
          <p:cNvPr id="22530" name="Picture 2" descr="Wahiba Sands – Travel guide at Wikivoyage">
            <a:extLst>
              <a:ext uri="{FF2B5EF4-FFF2-40B4-BE49-F238E27FC236}">
                <a16:creationId xmlns:a16="http://schemas.microsoft.com/office/drawing/2014/main" id="{2733DF18-2330-BD40-DFA8-7E8E5D5146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122"/>
          <a:stretch>
            <a:fillRect/>
          </a:stretch>
        </p:blipFill>
        <p:spPr bwMode="auto">
          <a:xfrm>
            <a:off x="1" y="0"/>
            <a:ext cx="71628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901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529B-9CCE-655C-F17D-FD50AF5DA1D2}"/>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B7807B0C-9955-D660-FA10-B9BF58A1B63C}"/>
              </a:ext>
            </a:extLst>
          </p:cNvPr>
          <p:cNvSpPr>
            <a:spLocks noGrp="1"/>
          </p:cNvSpPr>
          <p:nvPr>
            <p:ph type="ctrTitle"/>
          </p:nvPr>
        </p:nvSpPr>
        <p:spPr>
          <a:xfrm>
            <a:off x="1821179" y="3538900"/>
            <a:ext cx="5501640" cy="633050"/>
          </a:xfrm>
        </p:spPr>
        <p:txBody>
          <a:bodyPr>
            <a:noAutofit/>
          </a:bodyPr>
          <a:lstStyle/>
          <a:p>
            <a:pPr algn="ctr"/>
            <a:r>
              <a:rPr lang="en-GB" sz="1800" dirty="0">
                <a:solidFill>
                  <a:schemeClr val="tx1">
                    <a:lumMod val="75000"/>
                    <a:lumOff val="25000"/>
                  </a:schemeClr>
                </a:solidFill>
                <a:latin typeface="Century Gothic" panose="020B0502020202020204" pitchFamily="34" charset="0"/>
              </a:rPr>
              <a:t>Visit Oman Across Ages Museum on the way</a:t>
            </a:r>
            <a:br>
              <a:rPr lang="en-GB" sz="1800" dirty="0">
                <a:solidFill>
                  <a:schemeClr val="tx1">
                    <a:lumMod val="75000"/>
                    <a:lumOff val="25000"/>
                  </a:schemeClr>
                </a:solidFill>
                <a:latin typeface="Century Gothic" panose="020B0502020202020204" pitchFamily="34" charset="0"/>
              </a:rPr>
            </a:br>
            <a:r>
              <a:rPr lang="en-GB" sz="1800" dirty="0">
                <a:solidFill>
                  <a:schemeClr val="tx1">
                    <a:lumMod val="75000"/>
                    <a:lumOff val="25000"/>
                  </a:schemeClr>
                </a:solidFill>
                <a:latin typeface="Century Gothic" panose="020B0502020202020204" pitchFamily="34" charset="0"/>
              </a:rPr>
              <a:t>followed by Lunch at a Local restaurant</a:t>
            </a:r>
            <a:endParaRPr lang="de-AT" sz="1800" dirty="0">
              <a:solidFill>
                <a:schemeClr val="tx1">
                  <a:lumMod val="75000"/>
                  <a:lumOff val="25000"/>
                </a:schemeClr>
              </a:solidFill>
              <a:latin typeface="Century Gothic" panose="020B0502020202020204" pitchFamily="34" charset="0"/>
            </a:endParaRPr>
          </a:p>
        </p:txBody>
      </p:sp>
      <p:pic>
        <p:nvPicPr>
          <p:cNvPr id="23554" name="Picture 2">
            <a:extLst>
              <a:ext uri="{FF2B5EF4-FFF2-40B4-BE49-F238E27FC236}">
                <a16:creationId xmlns:a16="http://schemas.microsoft.com/office/drawing/2014/main" id="{F7696D0A-B5BD-59B9-6086-3B96DF334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71550"/>
            <a:ext cx="3103017" cy="2066925"/>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Oman Across Ages Museum, Muscat - Museum Interior Design on Love That Design">
            <a:extLst>
              <a:ext uri="{FF2B5EF4-FFF2-40B4-BE49-F238E27FC236}">
                <a16:creationId xmlns:a16="http://schemas.microsoft.com/office/drawing/2014/main" id="{18A6AB4E-EF57-310D-F6DF-D2E8F3FC91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0983" y="969797"/>
            <a:ext cx="3103017" cy="2068678"/>
          </a:xfrm>
          <a:prstGeom prst="rect">
            <a:avLst/>
          </a:prstGeom>
          <a:noFill/>
          <a:extLst>
            <a:ext uri="{909E8E84-426E-40DD-AFC4-6F175D3DCCD1}">
              <a14:hiddenFill xmlns:a14="http://schemas.microsoft.com/office/drawing/2010/main">
                <a:solidFill>
                  <a:srgbClr val="FFFFFF"/>
                </a:solidFill>
              </a14:hiddenFill>
            </a:ext>
          </a:extLst>
        </p:spPr>
      </p:pic>
      <p:pic>
        <p:nvPicPr>
          <p:cNvPr id="23560" name="Picture 8" descr="Oman Across Ages Museum — GREENWAY ASSOCIATES | Quantity Surveyors &amp;  Project Managers">
            <a:extLst>
              <a:ext uri="{FF2B5EF4-FFF2-40B4-BE49-F238E27FC236}">
                <a16:creationId xmlns:a16="http://schemas.microsoft.com/office/drawing/2014/main" id="{8879E008-95BA-4B37-1873-D6C5DC395C0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9989" y="643300"/>
            <a:ext cx="4884021" cy="269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7802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CDFD-E971-FC08-077F-EBA9F081693A}"/>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9E6A9608-BD7C-429D-3A00-947357BF2E1B}"/>
              </a:ext>
            </a:extLst>
          </p:cNvPr>
          <p:cNvSpPr>
            <a:spLocks noGrp="1"/>
          </p:cNvSpPr>
          <p:nvPr>
            <p:ph type="ctrTitle"/>
          </p:nvPr>
        </p:nvSpPr>
        <p:spPr>
          <a:xfrm>
            <a:off x="7046446" y="1598837"/>
            <a:ext cx="2118889" cy="2385650"/>
          </a:xfrm>
        </p:spPr>
        <p:txBody>
          <a:bodyPr>
            <a:noAutofit/>
          </a:bodyPr>
          <a:lstStyle/>
          <a:p>
            <a:r>
              <a:rPr lang="en-GB" sz="1800" dirty="0">
                <a:solidFill>
                  <a:schemeClr val="tx1">
                    <a:lumMod val="75000"/>
                    <a:lumOff val="25000"/>
                  </a:schemeClr>
                </a:solidFill>
                <a:latin typeface="Century Gothic" panose="020B0502020202020204" pitchFamily="34" charset="0"/>
              </a:rPr>
              <a:t>Drive to Wahiba Sands and enjoy a 4x4 desert safari</a:t>
            </a:r>
            <a:br>
              <a:rPr lang="en-GB" sz="1800" dirty="0">
                <a:solidFill>
                  <a:schemeClr val="tx1">
                    <a:lumMod val="75000"/>
                    <a:lumOff val="25000"/>
                  </a:schemeClr>
                </a:solidFill>
                <a:latin typeface="Century Gothic" panose="020B0502020202020204" pitchFamily="34" charset="0"/>
              </a:rPr>
            </a:br>
            <a:br>
              <a:rPr lang="en-GB" sz="1800" dirty="0">
                <a:solidFill>
                  <a:schemeClr val="tx1">
                    <a:lumMod val="75000"/>
                    <a:lumOff val="25000"/>
                  </a:schemeClr>
                </a:solidFill>
                <a:latin typeface="Century Gothic" panose="020B0502020202020204" pitchFamily="34" charset="0"/>
              </a:rPr>
            </a:br>
            <a:r>
              <a:rPr lang="en-GB" sz="1800" dirty="0">
                <a:solidFill>
                  <a:schemeClr val="tx1">
                    <a:lumMod val="75000"/>
                    <a:lumOff val="25000"/>
                  </a:schemeClr>
                </a:solidFill>
                <a:latin typeface="Century Gothic" panose="020B0502020202020204" pitchFamily="34" charset="0"/>
              </a:rPr>
              <a:t>Optional desert activities (camel ride / quad bike)</a:t>
            </a:r>
            <a:endParaRPr lang="en-IN" sz="1800" dirty="0">
              <a:solidFill>
                <a:schemeClr val="tx1">
                  <a:lumMod val="75000"/>
                  <a:lumOff val="25000"/>
                </a:schemeClr>
              </a:solidFill>
              <a:latin typeface="Century Gothic" panose="020B0502020202020204" pitchFamily="34" charset="0"/>
            </a:endParaRPr>
          </a:p>
        </p:txBody>
      </p:sp>
      <p:pic>
        <p:nvPicPr>
          <p:cNvPr id="24578" name="Picture 2" descr="Experience Camel Rides in Wahiba Sands Desert with Arabian Nights Resort &amp;  Spa Oman">
            <a:extLst>
              <a:ext uri="{FF2B5EF4-FFF2-40B4-BE49-F238E27FC236}">
                <a16:creationId xmlns:a16="http://schemas.microsoft.com/office/drawing/2014/main" id="{BC109C5D-300E-2E5E-3E62-668E495E3E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10" r="8000"/>
          <a:stretch>
            <a:fillRect/>
          </a:stretch>
        </p:blipFill>
        <p:spPr bwMode="auto">
          <a:xfrm>
            <a:off x="-9145" y="2571750"/>
            <a:ext cx="3819145" cy="2571750"/>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Thrills and Dunes: An Exhilarating Day in Oman's Wahiba Sands">
            <a:extLst>
              <a:ext uri="{FF2B5EF4-FFF2-40B4-BE49-F238E27FC236}">
                <a16:creationId xmlns:a16="http://schemas.microsoft.com/office/drawing/2014/main" id="{5DA5999C-9594-31F9-5A93-312B988B1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3810000" cy="2543533"/>
          </a:xfrm>
          <a:prstGeom prst="rect">
            <a:avLst/>
          </a:prstGeom>
          <a:noFill/>
          <a:extLst>
            <a:ext uri="{909E8E84-426E-40DD-AFC4-6F175D3DCCD1}">
              <a14:hiddenFill xmlns:a14="http://schemas.microsoft.com/office/drawing/2010/main">
                <a:solidFill>
                  <a:srgbClr val="FFFFFF"/>
                </a:solidFill>
              </a14:hiddenFill>
            </a:ext>
          </a:extLst>
        </p:spPr>
      </p:pic>
      <p:pic>
        <p:nvPicPr>
          <p:cNvPr id="24582" name="Picture 6" descr="Wahiba Sands Sunset Desert Safari Group Tour">
            <a:extLst>
              <a:ext uri="{FF2B5EF4-FFF2-40B4-BE49-F238E27FC236}">
                <a16:creationId xmlns:a16="http://schemas.microsoft.com/office/drawing/2014/main" id="{DED094EE-FA77-700B-F8EB-0EBAD12787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3200" y="1184137"/>
            <a:ext cx="4205711" cy="280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23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1D6B-1BB4-6894-7193-58E42B3A3E05}"/>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EE6EC126-5BD7-EBA4-6019-95336E6D927F}"/>
              </a:ext>
            </a:extLst>
          </p:cNvPr>
          <p:cNvSpPr>
            <a:spLocks noGrp="1"/>
          </p:cNvSpPr>
          <p:nvPr>
            <p:ph type="ctrTitle"/>
          </p:nvPr>
        </p:nvSpPr>
        <p:spPr>
          <a:xfrm>
            <a:off x="1821180" y="3924300"/>
            <a:ext cx="5501640" cy="633050"/>
          </a:xfrm>
        </p:spPr>
        <p:txBody>
          <a:bodyPr>
            <a:noAutofit/>
          </a:bodyPr>
          <a:lstStyle/>
          <a:p>
            <a:pPr algn="ctr"/>
            <a:r>
              <a:rPr lang="en-GB" sz="1800" dirty="0">
                <a:solidFill>
                  <a:schemeClr val="tx1">
                    <a:lumMod val="75000"/>
                    <a:lumOff val="25000"/>
                  </a:schemeClr>
                </a:solidFill>
                <a:latin typeface="Century Gothic" panose="020B0502020202020204" pitchFamily="34" charset="0"/>
              </a:rPr>
              <a:t>Watch sunset over Sand Dunes followed by Check-in at your camp and Farewell Dinner</a:t>
            </a:r>
            <a:endParaRPr lang="de-AT" sz="1800" dirty="0">
              <a:solidFill>
                <a:schemeClr val="tx1">
                  <a:lumMod val="75000"/>
                  <a:lumOff val="25000"/>
                </a:schemeClr>
              </a:solidFill>
              <a:latin typeface="Century Gothic" panose="020B0502020202020204" pitchFamily="34" charset="0"/>
            </a:endParaRPr>
          </a:p>
        </p:txBody>
      </p:sp>
      <p:pic>
        <p:nvPicPr>
          <p:cNvPr id="25604" name="Picture 4" descr="Wahiba Sands Sunset And Sunrise Views Unveiled">
            <a:extLst>
              <a:ext uri="{FF2B5EF4-FFF2-40B4-BE49-F238E27FC236}">
                <a16:creationId xmlns:a16="http://schemas.microsoft.com/office/drawing/2014/main" id="{D2C12B9C-8BA4-4114-E789-D3F7ECDB78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691" b="6485"/>
          <a:stretch>
            <a:fillRect/>
          </a:stretch>
        </p:blipFill>
        <p:spPr bwMode="auto">
          <a:xfrm>
            <a:off x="-1" y="0"/>
            <a:ext cx="9180105"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43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C3560-AA1D-AE4E-6E2F-CC2955E00106}"/>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FD52455B-0B19-D2F6-74A0-4D57ACACA37A}"/>
              </a:ext>
            </a:extLst>
          </p:cNvPr>
          <p:cNvSpPr>
            <a:spLocks noGrp="1"/>
          </p:cNvSpPr>
          <p:nvPr>
            <p:ph type="title"/>
          </p:nvPr>
        </p:nvSpPr>
        <p:spPr/>
        <p:txBody>
          <a:bodyPr>
            <a:noAutofit/>
          </a:bodyPr>
          <a:lstStyle/>
          <a:p>
            <a:r>
              <a:rPr lang="de-AT" sz="2100" dirty="0">
                <a:latin typeface="Century Gothic" panose="020B0502020202020204" pitchFamily="34" charset="0"/>
              </a:rPr>
              <a:t>Day 6 Departure</a:t>
            </a:r>
          </a:p>
        </p:txBody>
      </p:sp>
    </p:spTree>
    <p:extLst>
      <p:ext uri="{BB962C8B-B14F-4D97-AF65-F5344CB8AC3E}">
        <p14:creationId xmlns:p14="http://schemas.microsoft.com/office/powerpoint/2010/main" val="286641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9CC8-B0C4-58DC-365A-894FC99C5A21}"/>
            </a:ext>
          </a:extLst>
        </p:cNvPr>
        <p:cNvGrpSpPr/>
        <p:nvPr/>
      </p:nvGrpSpPr>
      <p:grpSpPr>
        <a:xfrm>
          <a:off x="0" y="0"/>
          <a:ext cx="0" cy="0"/>
          <a:chOff x="0" y="0"/>
          <a:chExt cx="0" cy="0"/>
        </a:xfrm>
      </p:grpSpPr>
      <p:sp>
        <p:nvSpPr>
          <p:cNvPr id="18" name="Titel 2">
            <a:extLst>
              <a:ext uri="{FF2B5EF4-FFF2-40B4-BE49-F238E27FC236}">
                <a16:creationId xmlns:a16="http://schemas.microsoft.com/office/drawing/2014/main" id="{EB04FA67-B535-08D4-F534-CF97ABC0EDE6}"/>
              </a:ext>
            </a:extLst>
          </p:cNvPr>
          <p:cNvSpPr>
            <a:spLocks noGrp="1"/>
          </p:cNvSpPr>
          <p:nvPr>
            <p:ph type="ctrTitle"/>
          </p:nvPr>
        </p:nvSpPr>
        <p:spPr>
          <a:xfrm>
            <a:off x="7162800" y="1378925"/>
            <a:ext cx="2118889" cy="2385650"/>
          </a:xfrm>
        </p:spPr>
        <p:txBody>
          <a:bodyPr>
            <a:noAutofit/>
          </a:bodyPr>
          <a:lstStyle/>
          <a:p>
            <a:r>
              <a:rPr lang="en-GB" sz="1800" dirty="0">
                <a:solidFill>
                  <a:schemeClr val="tx1">
                    <a:lumMod val="75000"/>
                    <a:lumOff val="25000"/>
                  </a:schemeClr>
                </a:solidFill>
                <a:latin typeface="Century Gothic" panose="020B0502020202020204" pitchFamily="34" charset="0"/>
              </a:rPr>
              <a:t>Visit Wadi Bani Khalid for relaxation and swimming (optional)</a:t>
            </a:r>
            <a:endParaRPr lang="en-IN" sz="1800" dirty="0">
              <a:solidFill>
                <a:schemeClr val="tx1">
                  <a:lumMod val="75000"/>
                  <a:lumOff val="25000"/>
                </a:schemeClr>
              </a:solidFill>
              <a:latin typeface="Century Gothic" panose="020B0502020202020204" pitchFamily="34" charset="0"/>
            </a:endParaRPr>
          </a:p>
        </p:txBody>
      </p:sp>
      <p:pic>
        <p:nvPicPr>
          <p:cNvPr id="27650" name="Picture 2" descr="WADI BANI KHALID (2025) All You Need to Know BEFORE You Go (with Photos) -  Tripadvisor">
            <a:extLst>
              <a:ext uri="{FF2B5EF4-FFF2-40B4-BE49-F238E27FC236}">
                <a16:creationId xmlns:a16="http://schemas.microsoft.com/office/drawing/2014/main" id="{C5A71455-F5C7-6963-4CA6-321CEE8465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000"/>
          <a:stretch>
            <a:fillRect/>
          </a:stretch>
        </p:blipFill>
        <p:spPr bwMode="auto">
          <a:xfrm>
            <a:off x="0" y="0"/>
            <a:ext cx="3657600" cy="2560320"/>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Sur, Wadi Shab, and Wadi Bani Khalid | Kevin's Travel Blog">
            <a:extLst>
              <a:ext uri="{FF2B5EF4-FFF2-40B4-BE49-F238E27FC236}">
                <a16:creationId xmlns:a16="http://schemas.microsoft.com/office/drawing/2014/main" id="{89AAF8F0-3CB1-4C01-1093-F560911EBD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 y="2705100"/>
            <a:ext cx="36576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7654" name="Picture 6" descr="Oman road trip: swimming wild at Wadi Bani Khalid – Family Odyssey Rocks">
            <a:extLst>
              <a:ext uri="{FF2B5EF4-FFF2-40B4-BE49-F238E27FC236}">
                <a16:creationId xmlns:a16="http://schemas.microsoft.com/office/drawing/2014/main" id="{21677307-D858-1F90-F07A-2E9A4DD927F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3200" y="1540936"/>
            <a:ext cx="4242465" cy="2385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4888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2">
            <a:extLst>
              <a:ext uri="{FF2B5EF4-FFF2-40B4-BE49-F238E27FC236}">
                <a16:creationId xmlns:a16="http://schemas.microsoft.com/office/drawing/2014/main" id="{B891538A-167D-E78A-D19C-7A98B38D7197}"/>
              </a:ext>
            </a:extLst>
          </p:cNvPr>
          <p:cNvSpPr txBox="1">
            <a:spLocks/>
          </p:cNvSpPr>
          <p:nvPr/>
        </p:nvSpPr>
        <p:spPr>
          <a:xfrm>
            <a:off x="655055" y="2114550"/>
            <a:ext cx="7833889" cy="2385650"/>
          </a:xfrm>
          <a:prstGeom prst="rect">
            <a:avLst/>
          </a:prstGeom>
        </p:spPr>
        <p:txBody>
          <a:bodyPr wrap="square" lIns="0" tIns="0" rIns="0" bIns="0" anchor="b">
            <a:noAutofit/>
          </a:bodyPr>
          <a:lstStyle>
            <a:lvl1pPr algn="l">
              <a:defRPr sz="3300" b="1" i="0">
                <a:solidFill>
                  <a:schemeClr val="tx1">
                    <a:lumMod val="65000"/>
                    <a:lumOff val="35000"/>
                  </a:schemeClr>
                </a:solidFill>
                <a:latin typeface="Arial Black"/>
                <a:ea typeface="+mj-ea"/>
                <a:cs typeface="Arial Black"/>
              </a:defRPr>
            </a:lvl1pPr>
          </a:lstStyle>
          <a:p>
            <a:pPr algn="ctr"/>
            <a:r>
              <a:rPr lang="en-GB" sz="1800" dirty="0">
                <a:solidFill>
                  <a:schemeClr val="tx1">
                    <a:lumMod val="75000"/>
                    <a:lumOff val="25000"/>
                  </a:schemeClr>
                </a:solidFill>
                <a:latin typeface="Century Gothic" panose="020B0502020202020204" pitchFamily="34" charset="0"/>
              </a:rPr>
              <a:t>Lunch at a Local restaurant and Drive to Muscat Airport</a:t>
            </a:r>
            <a:endParaRPr lang="en-IN" sz="1800" dirty="0">
              <a:solidFill>
                <a:schemeClr val="tx1">
                  <a:lumMod val="75000"/>
                  <a:lumOff val="25000"/>
                </a:schemeClr>
              </a:solidFill>
              <a:latin typeface="Century Gothic" panose="020B0502020202020204" pitchFamily="34" charset="0"/>
            </a:endParaRPr>
          </a:p>
        </p:txBody>
      </p:sp>
      <p:pic>
        <p:nvPicPr>
          <p:cNvPr id="28676" name="Picture 4" descr="Airport review: Muscat International Airport, Oman">
            <a:extLst>
              <a:ext uri="{FF2B5EF4-FFF2-40B4-BE49-F238E27FC236}">
                <a16:creationId xmlns:a16="http://schemas.microsoft.com/office/drawing/2014/main" id="{77B94F5D-AE70-C4C8-FFEC-1DC62B37F2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1908"/>
          <a:stretch>
            <a:fillRect/>
          </a:stretch>
        </p:blipFill>
        <p:spPr bwMode="auto">
          <a:xfrm>
            <a:off x="0" y="1"/>
            <a:ext cx="9144000" cy="401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58559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956079-B3C6-7A39-DE37-D6ADDA46B288}"/>
              </a:ext>
            </a:extLst>
          </p:cNvPr>
          <p:cNvSpPr>
            <a:spLocks noGrp="1"/>
          </p:cNvSpPr>
          <p:nvPr>
            <p:ph type="title"/>
          </p:nvPr>
        </p:nvSpPr>
        <p:spPr>
          <a:xfrm>
            <a:off x="3189880" y="2232234"/>
            <a:ext cx="2764241" cy="369332"/>
          </a:xfrm>
        </p:spPr>
        <p:txBody>
          <a:bodyPr/>
          <a:lstStyle/>
          <a:p>
            <a:r>
              <a:rPr lang="de-AT" sz="2400" dirty="0">
                <a:solidFill>
                  <a:schemeClr val="bg1"/>
                </a:solidFill>
                <a:latin typeface="Century Gothic" panose="020B0502020202020204" pitchFamily="34" charset="0"/>
              </a:rPr>
              <a:t>THANK YOU!</a:t>
            </a:r>
          </a:p>
        </p:txBody>
      </p:sp>
    </p:spTree>
    <p:extLst>
      <p:ext uri="{BB962C8B-B14F-4D97-AF65-F5344CB8AC3E}">
        <p14:creationId xmlns:p14="http://schemas.microsoft.com/office/powerpoint/2010/main" val="789210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16FFBB-3380-4B0E-80A7-FE2B5CD33100}">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E9E80E3487DC44B99E7BC37C8F43DD" ma:contentTypeVersion="25" ma:contentTypeDescription="Create a new document." ma:contentTypeScope="" ma:versionID="1db94bfb2da601dc19019064f0ce3183">
  <xsd:schema xmlns:xsd="http://www.w3.org/2001/XMLSchema" xmlns:xs="http://www.w3.org/2001/XMLSchema" xmlns:p="http://schemas.microsoft.com/office/2006/metadata/properties" xmlns:ns2="a65c86be-96b2-46ad-a92c-5724a6e51691" xmlns:ns3="a69f624f-7ef0-4592-924e-3cff8cc1cd2d" targetNamespace="http://schemas.microsoft.com/office/2006/metadata/properties" ma:root="true" ma:fieldsID="a5eec1d48d347b570f00f72b54cc51fa" ns2:_="" ns3:_="">
    <xsd:import namespace="a65c86be-96b2-46ad-a92c-5724a6e51691"/>
    <xsd:import namespace="a69f624f-7ef0-4592-924e-3cff8cc1cd2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Create_x0020_by" minOccurs="0"/>
                <xsd:element ref="ns2:Agency_x0020_of_x0020_Origin"/>
                <xsd:element ref="ns2:Destination"/>
                <xsd:element ref="ns2:Generalppt" minOccurs="0"/>
                <xsd:element ref="ns2:MediaServiceAutoKeyPoints" minOccurs="0"/>
                <xsd:element ref="ns2:MediaServiceKeyPoints" minOccurs="0"/>
                <xsd:element ref="ns3:SharedWithUsers" minOccurs="0"/>
                <xsd:element ref="ns3:SharedWithDetails" minOccurs="0"/>
                <xsd:element ref="ns2:MediaServiceOCR"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5c86be-96b2-46ad-a92c-5724a6e516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Create_x0020_by" ma:index="12" nillable="true" ma:displayName="Author" ma:default="SM" ma:format="Dropdown" ma:internalName="Create_x0020_by">
      <xsd:simpleType>
        <xsd:restriction base="dms:Choice">
          <xsd:enumeration value="SM"/>
          <xsd:enumeration value="RD"/>
          <xsd:enumeration value="PY"/>
        </xsd:restriction>
      </xsd:simpleType>
    </xsd:element>
    <xsd:element name="Agency_x0020_of_x0020_Origin" ma:index="13" ma:displayName="Agency of Origin" ma:internalName="Agency_x0020_of_x0020_Origin">
      <xsd:simpleType>
        <xsd:restriction base="dms:Text">
          <xsd:maxLength value="255"/>
        </xsd:restriction>
      </xsd:simpleType>
    </xsd:element>
    <xsd:element name="Destination" ma:index="14" ma:displayName="Destination" ma:format="Dropdown" ma:internalName="Destination">
      <xsd:simpleType>
        <xsd:union memberTypes="dms:Text">
          <xsd:simpleType>
            <xsd:restriction base="dms:Choice">
              <xsd:enumeration value="GT"/>
              <xsd:enumeration value="GOI"/>
              <xsd:enumeration value="Kerala"/>
              <xsd:enumeration value="BLR"/>
              <xsd:enumeration value="MAA"/>
              <xsd:enumeration value="CCU"/>
              <xsd:enumeration value="VNS"/>
            </xsd:restriction>
          </xsd:simpleType>
        </xsd:union>
      </xsd:simpleType>
    </xsd:element>
    <xsd:element name="Generalppt" ma:index="15" nillable="true" ma:displayName="General ppt" ma:format="Dropdown" ma:internalName="Generalppt">
      <xsd:simpleType>
        <xsd:restriction base="dms:Text">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MediaServiceLocation" ma:index="23"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74418078-4753-4af9-9c88-13346d7fb69b" ma:termSetId="09814cd3-568e-fe90-9814-8d621ff8fb84" ma:anchorId="fba54fb3-c3e1-fe81-a776-ca4b69148c4d" ma:open="true" ma:isKeyword="false">
      <xsd:complexType>
        <xsd:sequence>
          <xsd:element ref="pc:Terms" minOccurs="0" maxOccurs="1"/>
        </xsd:sequence>
      </xsd:complex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69f624f-7ef0-4592-924e-3cff8cc1cd2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6c50604f-d26f-4d7d-ad54-291e1f007b58}" ma:internalName="TaxCatchAll" ma:showField="CatchAllData" ma:web="a69f624f-7ef0-4592-924e-3cff8cc1cd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reate_x0020_by xmlns="a65c86be-96b2-46ad-a92c-5724a6e51691">SM</Create_x0020_by>
    <Generalppt xmlns="a65c86be-96b2-46ad-a92c-5724a6e51691" xsi:nil="true"/>
    <Agency_x0020_of_x0020_Origin xmlns="a65c86be-96b2-46ad-a92c-5724a6e51691"/>
    <lcf76f155ced4ddcb4097134ff3c332f xmlns="a65c86be-96b2-46ad-a92c-5724a6e51691">
      <Terms xmlns="http://schemas.microsoft.com/office/infopath/2007/PartnerControls"/>
    </lcf76f155ced4ddcb4097134ff3c332f>
    <Destination xmlns="a65c86be-96b2-46ad-a92c-5724a6e51691"/>
    <TaxCatchAll xmlns="a69f624f-7ef0-4592-924e-3cff8cc1cd2d" xsi:nil="true"/>
  </documentManagement>
</p:properties>
</file>

<file path=customXml/itemProps1.xml><?xml version="1.0" encoding="utf-8"?>
<ds:datastoreItem xmlns:ds="http://schemas.openxmlformats.org/officeDocument/2006/customXml" ds:itemID="{4CDB2DF5-25D6-4C7D-B2C3-A2373AAE7357}"/>
</file>

<file path=customXml/itemProps2.xml><?xml version="1.0" encoding="utf-8"?>
<ds:datastoreItem xmlns:ds="http://schemas.openxmlformats.org/officeDocument/2006/customXml" ds:itemID="{F6941C1D-F984-4AD7-8DD0-B90658DEAB18}"/>
</file>

<file path=customXml/itemProps3.xml><?xml version="1.0" encoding="utf-8"?>
<ds:datastoreItem xmlns:ds="http://schemas.openxmlformats.org/officeDocument/2006/customXml" ds:itemID="{F774577E-4C99-480E-B002-29264326C71D}"/>
</file>

<file path=docProps/app.xml><?xml version="1.0" encoding="utf-8"?>
<Properties xmlns="http://schemas.openxmlformats.org/officeDocument/2006/extended-properties" xmlns:vt="http://schemas.openxmlformats.org/officeDocument/2006/docPropsVTypes">
  <Template/>
  <TotalTime>3642</TotalTime>
  <Words>1228</Words>
  <Application>Microsoft Macintosh PowerPoint</Application>
  <PresentationFormat>On-screen Show (16:9)</PresentationFormat>
  <Paragraphs>121</Paragraphs>
  <Slides>48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Arial</vt:lpstr>
      <vt:lpstr>Arial Black</vt:lpstr>
      <vt:lpstr>Arial MT</vt:lpstr>
      <vt:lpstr>Century Gothic</vt:lpstr>
      <vt:lpstr>Lucida Sans Unicode</vt:lpstr>
      <vt:lpstr>Office Theme</vt:lpstr>
      <vt:lpstr>PowerPoint Presentation</vt:lpstr>
      <vt:lpstr>PowerPoint Presentation</vt:lpstr>
      <vt:lpstr>Itinerary Overview</vt:lpstr>
      <vt:lpstr>PowerPoint Presentation</vt:lpstr>
      <vt:lpstr>PowerPoint Presentation</vt:lpstr>
      <vt:lpstr>PowerPoint Presentation</vt:lpstr>
      <vt:lpstr>PowerPoint Presentation</vt:lpstr>
      <vt:lpstr>Day 1 Arrival in Muscat</vt:lpstr>
      <vt:lpstr>PowerPoint Presentation</vt:lpstr>
      <vt:lpstr>Al-Falaj Hotel, Muscat</vt:lpstr>
      <vt:lpstr>PowerPoint Presentation</vt:lpstr>
      <vt:lpstr>PowerPoint Presentation</vt:lpstr>
      <vt:lpstr>Arrive at Muscat international Airport. Meet &amp; greet by our representative  Transfer to Hotel</vt:lpstr>
      <vt:lpstr>Sunset Dhow cruise</vt:lpstr>
      <vt:lpstr>Dinner at Bait Al Yasmine</vt:lpstr>
      <vt:lpstr>Day 2 City-Orientation of Muscat</vt:lpstr>
      <vt:lpstr>PowerPoint Presentation</vt:lpstr>
      <vt:lpstr>Explore the National Museum</vt:lpstr>
      <vt:lpstr>Photo stop at  Al Alam Palace, flanked by Mirani and Jalali Forts</vt:lpstr>
      <vt:lpstr>Drive along the Corniche and stop at Muttrah Souk followed by Lunch at a Local Restaurant</vt:lpstr>
      <vt:lpstr>Day 3 Nizwa</vt:lpstr>
      <vt:lpstr>PowerPoint Presentation</vt:lpstr>
      <vt:lpstr>InterCity Hotel, Nizwa</vt:lpstr>
      <vt:lpstr>PowerPoint Presentation</vt:lpstr>
      <vt:lpstr>PowerPoint Presentation</vt:lpstr>
      <vt:lpstr>Visit Jabreen Castle with its ornate stucco &amp; ceilings</vt:lpstr>
      <vt:lpstr>Continue to Bahla Fort (UNESCO site) famous for its pottery for a quick photo stop</vt:lpstr>
      <vt:lpstr>Lunch at a Local Restaurant followed by  Check-in at the hotel in Nizwa</vt:lpstr>
      <vt:lpstr>Day 4 Jebel Akhdar</vt:lpstr>
      <vt:lpstr>PowerPoint Presentation</vt:lpstr>
      <vt:lpstr>Sama Heights Resort, Jebel Akhdar</vt:lpstr>
      <vt:lpstr>PowerPoint Presentation</vt:lpstr>
      <vt:lpstr>PowerPoint Presentation</vt:lpstr>
      <vt:lpstr>Visit Nizwa Fort &amp; traditional souk</vt:lpstr>
      <vt:lpstr>Lunch at a local restaurant  Continue your drive towards Jebel Akhdar followed by Check-in at the Hotel </vt:lpstr>
      <vt:lpstr>Day 5 Wahiba Sands</vt:lpstr>
      <vt:lpstr>PowerPoint Presentation</vt:lpstr>
      <vt:lpstr>Arabian Oryx Camp, Wahiba Sands</vt:lpstr>
      <vt:lpstr>PowerPoint Presentation</vt:lpstr>
      <vt:lpstr>PowerPoint Presentation</vt:lpstr>
      <vt:lpstr>Breakfast at the Hotel and then start your Drive to Wahiba Sands</vt:lpstr>
      <vt:lpstr>Visit Oman Across Ages Museum on the way followed by Lunch at a Local restaurant</vt:lpstr>
      <vt:lpstr>Drive to Wahiba Sands and enjoy a 4x4 desert safari  Optional desert activities (camel ride / quad bike)</vt:lpstr>
      <vt:lpstr>Watch sunset over Sand Dunes followed by Check-in at your camp and Farewell Dinner</vt:lpstr>
      <vt:lpstr>Day 6 Departure</vt:lpstr>
      <vt:lpstr>Visit Wadi Bani Khalid for relaxation and swimming (optional)</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INCENTIVE GROUP  MARCH 2026</dc:title>
  <dc:creator>MAGGIE</dc:creator>
  <cp:lastModifiedBy>Shreya Bhadani | Liberty Group Desk &amp; Global Tours</cp:lastModifiedBy>
  <cp:revision>40</cp:revision>
  <dcterms:created xsi:type="dcterms:W3CDTF">2025-01-22T05:38:07Z</dcterms:created>
  <dcterms:modified xsi:type="dcterms:W3CDTF">2025-08-12T18:57:00Z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2025-01-22T00:00:00Z</vt:filetime>
  </property>
  <property fmtid="{D5CDD505-2E9C-101B-9397-08002B2CF9AE}" pid="3" name="Creator">
    <vt:lpwstr>Google</vt:lpwstr>
  </property>
  <property fmtid="{D5CDD505-2E9C-101B-9397-08002B2CF9AE}" pid="4" name="LastSaved">
    <vt:filetime>2025-01-22T00:00:00Z</vt:filetime>
  </property>
  <property fmtid="{D5CDD505-2E9C-101B-9397-08002B2CF9AE}" pid="5" name="ContentTypeId">
    <vt:lpwstr>0x0101002EE9E80E3487DC44B99E7BC37C8F43DD</vt:lpwstr>
  </property>
</Properties>
</file>